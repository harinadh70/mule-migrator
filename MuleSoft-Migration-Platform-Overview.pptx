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image" Target="../media/image-14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A1E0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457200"/>
            <a:ext cx="3200400" cy="3200400"/>
          </a:xfrm>
          <a:prstGeom prst="ellipse">
            <a:avLst/>
          </a:prstGeom>
          <a:solidFill>
            <a:srgbClr val="00A1E0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498080" y="1097280"/>
            <a:ext cx="2286000" cy="2286000"/>
          </a:xfrm>
          <a:prstGeom prst="ellipse">
            <a:avLst/>
          </a:prstGeom>
          <a:solidFill>
            <a:srgbClr val="6DB33F">
              <a:alpha val="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9144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MuleSoft to Spring Boot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A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Migration Platform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Intelligent, Automated Legacy Integration Modernization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3291840"/>
            <a:ext cx="1828800" cy="365760"/>
          </a:xfrm>
          <a:prstGeom prst="roundRect">
            <a:avLst>
              <a:gd name="adj" fmla="val 37500"/>
            </a:avLst>
          </a:prstGeom>
          <a:solidFill>
            <a:srgbClr val="00A1E0">
              <a:alpha val="20000"/>
            </a:srgbClr>
          </a:solidFill>
          <a:ln w="12700">
            <a:solidFill>
              <a:srgbClr val="00A1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291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A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0" y="3291840"/>
            <a:ext cx="1828800" cy="365760"/>
          </a:xfrm>
          <a:prstGeom prst="roundRect">
            <a:avLst>
              <a:gd name="adj" fmla="val 37500"/>
            </a:avLst>
          </a:prstGeom>
          <a:solidFill>
            <a:srgbClr val="6DB33F">
              <a:alpha val="20000"/>
            </a:srgbClr>
          </a:solidFill>
          <a:ln w="12700">
            <a:solidFill>
              <a:srgbClr val="6DB33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0" y="3291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Cloud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3291840"/>
            <a:ext cx="1828800" cy="365760"/>
          </a:xfrm>
          <a:prstGeom prst="roundRect">
            <a:avLst>
              <a:gd name="adj" fmla="val 37500"/>
            </a:avLst>
          </a:prstGeom>
          <a:solidFill>
            <a:srgbClr val="F97316">
              <a:alpha val="2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3291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Ready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F1F3A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663440"/>
            <a:ext cx="76809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8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AI  |  Built on Azure Cloud  |  Capgemini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A1E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Migration Challenge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7680960" cy="658368"/>
          </a:xfrm>
          <a:prstGeom prst="rect">
            <a:avLst/>
          </a:prstGeom>
          <a:solidFill>
            <a:srgbClr val="14224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051560"/>
            <a:ext cx="54864" cy="658368"/>
          </a:xfrm>
          <a:prstGeom prst="rect">
            <a:avLst/>
          </a:prstGeom>
          <a:solidFill>
            <a:srgbClr val="F9731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179576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097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Drain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600200" y="137160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60-80% of IT budgets spent maintaining legacy integrations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31520" y="1828800"/>
            <a:ext cx="7680960" cy="658368"/>
          </a:xfrm>
          <a:prstGeom prst="rect">
            <a:avLst/>
          </a:prstGeom>
          <a:solidFill>
            <a:srgbClr val="14224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31520" y="1828800"/>
            <a:ext cx="54864" cy="658368"/>
          </a:xfrm>
          <a:prstGeom prst="rect">
            <a:avLst/>
          </a:prstGeom>
          <a:solidFill>
            <a:srgbClr val="F9731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956816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00200" y="1874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Manual Process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600200" y="214884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2-4 weeks per application for manual migration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31520" y="2606040"/>
            <a:ext cx="7680960" cy="658368"/>
          </a:xfrm>
          <a:prstGeom prst="rect">
            <a:avLst/>
          </a:prstGeom>
          <a:solidFill>
            <a:srgbClr val="14224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31520" y="2606040"/>
            <a:ext cx="54864" cy="658368"/>
          </a:xfrm>
          <a:prstGeom prst="rect">
            <a:avLst/>
          </a:prstGeom>
          <a:solidFill>
            <a:srgbClr val="F9731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734056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2651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600200" y="292608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Errors, inconsistencies, and knowledge loss during migration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731520" y="3383280"/>
            <a:ext cx="7680960" cy="658368"/>
          </a:xfrm>
          <a:prstGeom prst="rect">
            <a:avLst/>
          </a:prstGeom>
          <a:solidFill>
            <a:srgbClr val="14224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31520" y="3383280"/>
            <a:ext cx="54864" cy="658368"/>
          </a:xfrm>
          <a:prstGeom prst="rect">
            <a:avLst/>
          </a:prstGeom>
          <a:solidFill>
            <a:srgbClr val="F97316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511296"/>
            <a:ext cx="402336" cy="40233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00200" y="3429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 Shortage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1600200" y="370332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developers skilled in both MuleSoft and Spring Boot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731520" y="4160520"/>
            <a:ext cx="7680960" cy="658368"/>
          </a:xfrm>
          <a:prstGeom prst="rect">
            <a:avLst/>
          </a:prstGeom>
          <a:solidFill>
            <a:srgbClr val="14224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31520" y="4160520"/>
            <a:ext cx="54864" cy="658368"/>
          </a:xfrm>
          <a:prstGeom prst="rect">
            <a:avLst/>
          </a:prstGeom>
          <a:solidFill>
            <a:srgbClr val="F97316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4288536"/>
            <a:ext cx="402336" cy="40233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600200" y="4206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Tooling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1600200" y="448056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standardized automated conversion tools available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Solution: AI-Powered Migration Platform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3200400" cy="1645920"/>
          </a:xfrm>
          <a:prstGeom prst="rect">
            <a:avLst/>
          </a:prstGeom>
          <a:solidFill>
            <a:srgbClr val="14224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05156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70-80%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Manual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Effort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0" y="1069848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754880" y="10515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with RAG Knowledge Base — 266+ migration patterns</a:t>
            </a:r>
            <a:endParaRPr lang="en-US" sz="12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481328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754880" y="14630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End-to-end: Parse → Convert → Generate → Validate → Deploy</a:t>
            </a:r>
            <a:endParaRPr lang="en-US" sz="12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892808"/>
            <a:ext cx="320040" cy="320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754880" y="18745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Multi-LLM: GitHub Copilot, Azure OpenAI, Claude, Gemini &amp; more</a:t>
            </a:r>
            <a:endParaRPr lang="en-US" sz="12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2304288"/>
            <a:ext cx="320040" cy="32004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754880" y="22860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Enterprise-grade: Azure cloud, Microsoft SSO, audit trail</a:t>
            </a:r>
            <a:endParaRPr lang="en-US" sz="1200" dirty="0"/>
          </a:p>
        </p:txBody>
      </p:sp>
      <p:sp>
        <p:nvSpPr>
          <p:cNvPr id="15" name="Shape 9"/>
          <p:cNvSpPr/>
          <p:nvPr/>
        </p:nvSpPr>
        <p:spPr>
          <a:xfrm>
            <a:off x="731520" y="3017520"/>
            <a:ext cx="7680960" cy="548640"/>
          </a:xfrm>
          <a:prstGeom prst="rect">
            <a:avLst/>
          </a:prstGeom>
          <a:solidFill>
            <a:srgbClr val="00A1E0">
              <a:alpha val="15000"/>
            </a:srgbClr>
          </a:solidFill>
          <a:ln w="12700">
            <a:solidFill>
              <a:srgbClr val="00A1E0"/>
            </a:solidFill>
            <a:prstDash val="solid"/>
          </a:ln>
        </p:spPr>
      </p:sp>
      <p:sp>
        <p:nvSpPr>
          <p:cNvPr id="16" name="Text 10"/>
          <p:cNvSpPr/>
          <p:nvPr/>
        </p:nvSpPr>
        <p:spPr>
          <a:xfrm>
            <a:off x="731520" y="30175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→ Hours  for typical MuleSoft application migration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A1E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7680960" cy="685800"/>
          </a:xfrm>
          <a:prstGeom prst="rect">
            <a:avLst/>
          </a:prstGeom>
          <a:solidFill>
            <a:srgbClr val="14224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005840"/>
            <a:ext cx="54864" cy="685800"/>
          </a:xfrm>
          <a:prstGeom prst="rect">
            <a:avLst/>
          </a:prstGeom>
          <a:solidFill>
            <a:srgbClr val="00A1E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14300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051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600200" y="1325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React/TypeScript  •  Azure Static Web Apps  •  MSAL Auth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31520" y="1828800"/>
            <a:ext cx="7680960" cy="685800"/>
          </a:xfrm>
          <a:prstGeom prst="rect">
            <a:avLst/>
          </a:prstGeom>
          <a:solidFill>
            <a:srgbClr val="14224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31520" y="1828800"/>
            <a:ext cx="54864" cy="685800"/>
          </a:xfrm>
          <a:prstGeom prst="rect">
            <a:avLst/>
          </a:prstGeom>
          <a:solidFill>
            <a:srgbClr val="6DB33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96596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00200" y="1874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600200" y="21488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Python/FastAPI  •  Azure Functions (Serverless)  •  Queue Workers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731520" y="2651760"/>
            <a:ext cx="7680960" cy="685800"/>
          </a:xfrm>
          <a:prstGeom prst="rect">
            <a:avLst/>
          </a:prstGeom>
          <a:solidFill>
            <a:srgbClr val="14224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31520" y="2651760"/>
            <a:ext cx="54864" cy="685800"/>
          </a:xfrm>
          <a:prstGeom prst="rect">
            <a:avLst/>
          </a:prstGeom>
          <a:solidFill>
            <a:srgbClr val="F9731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78892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2697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LLM LAYER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1600200" y="2971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(GPT-4.1)  •  Azure OpenAI  •  RAG Knowledge Base (pgvector)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731520" y="3474720"/>
            <a:ext cx="7680960" cy="685800"/>
          </a:xfrm>
          <a:prstGeom prst="rect">
            <a:avLst/>
          </a:prstGeom>
          <a:solidFill>
            <a:srgbClr val="14224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31520" y="3474720"/>
            <a:ext cx="54864" cy="685800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611880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00200" y="3520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SECURITY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1600200" y="3794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Flexible Server  •  Redis Cache  •  Azure Key Vault  •  Azure AD SSO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114800" y="16642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B8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4114800" y="248716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B8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4114800" y="331012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B8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731520" y="4343400"/>
            <a:ext cx="7680960" cy="411480"/>
          </a:xfrm>
          <a:prstGeom prst="rect">
            <a:avLst/>
          </a:prstGeom>
          <a:solidFill>
            <a:srgbClr val="142242">
              <a:alpha val="50000"/>
            </a:srgbClr>
          </a:solidFill>
          <a:ln w="6350">
            <a:solidFill>
              <a:srgbClr val="7B8DA4"/>
            </a:solidFill>
            <a:prstDash val="dash"/>
          </a:ln>
        </p:spPr>
      </p:sp>
      <p:sp>
        <p:nvSpPr>
          <p:cNvPr id="28" name="Text 22"/>
          <p:cNvSpPr/>
          <p:nvPr/>
        </p:nvSpPr>
        <p:spPr>
          <a:xfrm>
            <a:off x="731520" y="434340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B8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DevOps:  Terraform IaC  •  Docker  •  CI/CD Pipeline  •  Azure Container Registry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Migration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097280"/>
            <a:ext cx="640080" cy="640080"/>
          </a:xfrm>
          <a:prstGeom prst="ellipse">
            <a:avLst/>
          </a:prstGeom>
          <a:solidFill>
            <a:srgbClr val="00A1E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097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17320" y="11887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B8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19202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A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2402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MuleSoft XML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 &amp; Validation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148840" y="1097280"/>
            <a:ext cx="640080" cy="640080"/>
          </a:xfrm>
          <a:prstGeom prst="ellipse">
            <a:avLst/>
          </a:prstGeom>
          <a:solidFill>
            <a:srgbClr val="12ABD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148840" y="1097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880360" y="11887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B8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828800" y="19202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A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828800" y="22402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Flows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 &amp; DW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11880" y="1097280"/>
            <a:ext cx="640080" cy="640080"/>
          </a:xfrm>
          <a:prstGeom prst="ellipse">
            <a:avLst/>
          </a:prstGeom>
          <a:solidFill>
            <a:srgbClr val="6DB33F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611880" y="1097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343400" y="11887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B8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291840" y="19202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91840" y="22402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 Connectors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Spring Boot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74920" y="1097280"/>
            <a:ext cx="640080" cy="640080"/>
          </a:xfrm>
          <a:prstGeom prst="ellipse">
            <a:avLst/>
          </a:prstGeom>
          <a:solidFill>
            <a:srgbClr val="F97316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074920" y="1097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806440" y="11887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B8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754880" y="19202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54880" y="22402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Project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File Types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537960" y="1097280"/>
            <a:ext cx="640080" cy="640080"/>
          </a:xfrm>
          <a:prstGeom prst="ellipse">
            <a:avLst/>
          </a:prstGeom>
          <a:solidFill>
            <a:srgbClr val="8B5CF6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37960" y="1097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269480" y="11887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B8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217920" y="19202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Enhance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17920" y="22402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+ LLM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001000" y="1097280"/>
            <a:ext cx="640080" cy="640080"/>
          </a:xfrm>
          <a:prstGeom prst="ellipse">
            <a:avLst/>
          </a:prstGeom>
          <a:solidFill>
            <a:srgbClr val="EC4899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001000" y="1097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7680960" y="19202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680960" y="22402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 Build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Push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31520" y="3200400"/>
            <a:ext cx="2377440" cy="822960"/>
          </a:xfrm>
          <a:prstGeom prst="rect">
            <a:avLst/>
          </a:prstGeom>
          <a:solidFill>
            <a:srgbClr val="14224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31520" y="3200400"/>
            <a:ext cx="2377440" cy="45720"/>
          </a:xfrm>
          <a:prstGeom prst="rect">
            <a:avLst/>
          </a:prstGeom>
          <a:solidFill>
            <a:srgbClr val="00A1E0"/>
          </a:solidFill>
          <a:ln/>
        </p:spPr>
      </p:sp>
      <p:sp>
        <p:nvSpPr>
          <p:cNvPr id="35" name="Text 33"/>
          <p:cNvSpPr/>
          <p:nvPr/>
        </p:nvSpPr>
        <p:spPr>
          <a:xfrm>
            <a:off x="868680" y="32918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XXE Protection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68680" y="36118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XML parsing with defusedxml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383280" y="3200400"/>
            <a:ext cx="2377440" cy="822960"/>
          </a:xfrm>
          <a:prstGeom prst="rect">
            <a:avLst/>
          </a:prstGeom>
          <a:solidFill>
            <a:srgbClr val="14224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383280" y="3200400"/>
            <a:ext cx="2377440" cy="45720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39" name="Text 37"/>
          <p:cNvSpPr/>
          <p:nvPr/>
        </p:nvSpPr>
        <p:spPr>
          <a:xfrm>
            <a:off x="3520440" y="32918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266+ Patterns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520440" y="36118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knowledge base for context-aware generation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035040" y="3200400"/>
            <a:ext cx="2377440" cy="822960"/>
          </a:xfrm>
          <a:prstGeom prst="rect">
            <a:avLst/>
          </a:prstGeom>
          <a:solidFill>
            <a:srgbClr val="14224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035040" y="3200400"/>
            <a:ext cx="2377440" cy="457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3" name="Text 41"/>
          <p:cNvSpPr/>
          <p:nvPr/>
        </p:nvSpPr>
        <p:spPr>
          <a:xfrm>
            <a:off x="6172200" y="32918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Logs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172200" y="36118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build output streaming to dashboard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A1E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Connector Coverage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3474720" cy="365760"/>
          </a:xfrm>
          <a:prstGeom prst="rect">
            <a:avLst/>
          </a:prstGeom>
          <a:solidFill>
            <a:srgbClr val="00A1E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9144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MuleSoft Component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206240" y="914400"/>
            <a:ext cx="365760" cy="365760"/>
          </a:xfrm>
          <a:prstGeom prst="rect">
            <a:avLst/>
          </a:prstGeom>
          <a:solidFill>
            <a:srgbClr val="142242"/>
          </a:solidFill>
          <a:ln/>
        </p:spPr>
      </p:sp>
      <p:sp>
        <p:nvSpPr>
          <p:cNvPr id="7" name="Text 5"/>
          <p:cNvSpPr/>
          <p:nvPr/>
        </p:nvSpPr>
        <p:spPr>
          <a:xfrm>
            <a:off x="4206240" y="914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0" y="914400"/>
            <a:ext cx="3840480" cy="365760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0" y="9144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Equivalent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1325880"/>
            <a:ext cx="3474720" cy="301752"/>
          </a:xfrm>
          <a:prstGeom prst="rect">
            <a:avLst/>
          </a:prstGeom>
          <a:solidFill>
            <a:srgbClr val="142242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1325880"/>
            <a:ext cx="3108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Listener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06240" y="1325880"/>
            <a:ext cx="365760" cy="301752"/>
          </a:xfrm>
          <a:prstGeom prst="rect">
            <a:avLst/>
          </a:prstGeom>
          <a:solidFill>
            <a:srgbClr val="142242"/>
          </a:solidFill>
          <a:ln/>
        </p:spPr>
      </p:sp>
      <p:sp>
        <p:nvSpPr>
          <p:cNvPr id="13" name="Text 11"/>
          <p:cNvSpPr/>
          <p:nvPr/>
        </p:nvSpPr>
        <p:spPr>
          <a:xfrm>
            <a:off x="4206240" y="1325880"/>
            <a:ext cx="365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0" y="1325880"/>
            <a:ext cx="3840480" cy="301752"/>
          </a:xfrm>
          <a:prstGeom prst="rect">
            <a:avLst/>
          </a:prstGeom>
          <a:solidFill>
            <a:srgbClr val="142242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1325880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@RestController (@Get/Post/Put/Delete)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1627632"/>
            <a:ext cx="3474720" cy="301752"/>
          </a:xfrm>
          <a:prstGeom prst="rect">
            <a:avLst/>
          </a:prstGeom>
          <a:solidFill>
            <a:srgbClr val="0F1F3A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1627632"/>
            <a:ext cx="3108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(MySQL, PG, Oracle)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206240" y="1627632"/>
            <a:ext cx="365760" cy="301752"/>
          </a:xfrm>
          <a:prstGeom prst="rect">
            <a:avLst/>
          </a:prstGeom>
          <a:solidFill>
            <a:srgbClr val="0F1F3A"/>
          </a:solidFill>
          <a:ln/>
        </p:spPr>
      </p:sp>
      <p:sp>
        <p:nvSpPr>
          <p:cNvPr id="19" name="Text 17"/>
          <p:cNvSpPr/>
          <p:nvPr/>
        </p:nvSpPr>
        <p:spPr>
          <a:xfrm>
            <a:off x="4206240" y="1627632"/>
            <a:ext cx="365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0" y="1627632"/>
            <a:ext cx="3840480" cy="301752"/>
          </a:xfrm>
          <a:prstGeom prst="rect">
            <a:avLst/>
          </a:prstGeom>
          <a:solidFill>
            <a:srgbClr val="0F1F3A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1627632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Data JPA / JdbcTemplate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31520" y="1929384"/>
            <a:ext cx="3474720" cy="301752"/>
          </a:xfrm>
          <a:prstGeom prst="rect">
            <a:avLst/>
          </a:prstGeom>
          <a:solidFill>
            <a:srgbClr val="142242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1929384"/>
            <a:ext cx="3108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JMS / ActiveMQ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206240" y="1929384"/>
            <a:ext cx="365760" cy="301752"/>
          </a:xfrm>
          <a:prstGeom prst="rect">
            <a:avLst/>
          </a:prstGeom>
          <a:solidFill>
            <a:srgbClr val="142242"/>
          </a:solidFill>
          <a:ln/>
        </p:spPr>
      </p:sp>
      <p:sp>
        <p:nvSpPr>
          <p:cNvPr id="25" name="Text 23"/>
          <p:cNvSpPr/>
          <p:nvPr/>
        </p:nvSpPr>
        <p:spPr>
          <a:xfrm>
            <a:off x="4206240" y="1929384"/>
            <a:ext cx="365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0" y="1929384"/>
            <a:ext cx="3840480" cy="301752"/>
          </a:xfrm>
          <a:prstGeom prst="rect">
            <a:avLst/>
          </a:prstGeom>
          <a:solidFill>
            <a:srgbClr val="142242"/>
          </a:solidFill>
          <a:ln/>
        </p:spPr>
      </p:sp>
      <p:sp>
        <p:nvSpPr>
          <p:cNvPr id="27" name="Text 25"/>
          <p:cNvSpPr/>
          <p:nvPr/>
        </p:nvSpPr>
        <p:spPr>
          <a:xfrm>
            <a:off x="4754880" y="1929384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JMS (@JmsListener)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31520" y="2231136"/>
            <a:ext cx="3474720" cy="301752"/>
          </a:xfrm>
          <a:prstGeom prst="rect">
            <a:avLst/>
          </a:prstGeom>
          <a:solidFill>
            <a:srgbClr val="0F1F3A"/>
          </a:solidFill>
          <a:ln/>
        </p:spPr>
      </p:sp>
      <p:sp>
        <p:nvSpPr>
          <p:cNvPr id="29" name="Text 27"/>
          <p:cNvSpPr/>
          <p:nvPr/>
        </p:nvSpPr>
        <p:spPr>
          <a:xfrm>
            <a:off x="914400" y="2231136"/>
            <a:ext cx="3108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AMQP / RabbitMQ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206240" y="2231136"/>
            <a:ext cx="365760" cy="301752"/>
          </a:xfrm>
          <a:prstGeom prst="rect">
            <a:avLst/>
          </a:prstGeom>
          <a:solidFill>
            <a:srgbClr val="0F1F3A"/>
          </a:solidFill>
          <a:ln/>
        </p:spPr>
      </p:sp>
      <p:sp>
        <p:nvSpPr>
          <p:cNvPr id="31" name="Text 29"/>
          <p:cNvSpPr/>
          <p:nvPr/>
        </p:nvSpPr>
        <p:spPr>
          <a:xfrm>
            <a:off x="4206240" y="2231136"/>
            <a:ext cx="365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0" y="2231136"/>
            <a:ext cx="3840480" cy="301752"/>
          </a:xfrm>
          <a:prstGeom prst="rect">
            <a:avLst/>
          </a:prstGeom>
          <a:solidFill>
            <a:srgbClr val="0F1F3A"/>
          </a:solidFill>
          <a:ln/>
        </p:spPr>
      </p:sp>
      <p:sp>
        <p:nvSpPr>
          <p:cNvPr id="33" name="Text 31"/>
          <p:cNvSpPr/>
          <p:nvPr/>
        </p:nvSpPr>
        <p:spPr>
          <a:xfrm>
            <a:off x="4754880" y="2231136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AMQP (@RabbitListener)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31520" y="2532888"/>
            <a:ext cx="3474720" cy="301752"/>
          </a:xfrm>
          <a:prstGeom prst="rect">
            <a:avLst/>
          </a:prstGeom>
          <a:solidFill>
            <a:srgbClr val="142242"/>
          </a:solidFill>
          <a:ln/>
        </p:spPr>
      </p:sp>
      <p:sp>
        <p:nvSpPr>
          <p:cNvPr id="35" name="Text 33"/>
          <p:cNvSpPr/>
          <p:nvPr/>
        </p:nvSpPr>
        <p:spPr>
          <a:xfrm>
            <a:off x="914400" y="2532888"/>
            <a:ext cx="3108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Kafka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206240" y="2532888"/>
            <a:ext cx="365760" cy="301752"/>
          </a:xfrm>
          <a:prstGeom prst="rect">
            <a:avLst/>
          </a:prstGeom>
          <a:solidFill>
            <a:srgbClr val="142242"/>
          </a:solidFill>
          <a:ln/>
        </p:spPr>
      </p:sp>
      <p:sp>
        <p:nvSpPr>
          <p:cNvPr id="37" name="Text 35"/>
          <p:cNvSpPr/>
          <p:nvPr/>
        </p:nvSpPr>
        <p:spPr>
          <a:xfrm>
            <a:off x="4206240" y="2532888"/>
            <a:ext cx="365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572000" y="2532888"/>
            <a:ext cx="3840480" cy="301752"/>
          </a:xfrm>
          <a:prstGeom prst="rect">
            <a:avLst/>
          </a:prstGeom>
          <a:solidFill>
            <a:srgbClr val="142242"/>
          </a:solidFill>
          <a:ln/>
        </p:spPr>
      </p:sp>
      <p:sp>
        <p:nvSpPr>
          <p:cNvPr id="39" name="Text 37"/>
          <p:cNvSpPr/>
          <p:nvPr/>
        </p:nvSpPr>
        <p:spPr>
          <a:xfrm>
            <a:off x="4754880" y="2532888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Kafka (@KafkaListener)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31520" y="2834640"/>
            <a:ext cx="3474720" cy="301752"/>
          </a:xfrm>
          <a:prstGeom prst="rect">
            <a:avLst/>
          </a:prstGeom>
          <a:solidFill>
            <a:srgbClr val="0F1F3A"/>
          </a:solidFill>
          <a:ln/>
        </p:spPr>
      </p:sp>
      <p:sp>
        <p:nvSpPr>
          <p:cNvPr id="41" name="Text 39"/>
          <p:cNvSpPr/>
          <p:nvPr/>
        </p:nvSpPr>
        <p:spPr>
          <a:xfrm>
            <a:off x="914400" y="2834640"/>
            <a:ext cx="3108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/ SFTP / FTP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206240" y="2834640"/>
            <a:ext cx="365760" cy="301752"/>
          </a:xfrm>
          <a:prstGeom prst="rect">
            <a:avLst/>
          </a:prstGeom>
          <a:solidFill>
            <a:srgbClr val="0F1F3A"/>
          </a:solidFill>
          <a:ln/>
        </p:spPr>
      </p:sp>
      <p:sp>
        <p:nvSpPr>
          <p:cNvPr id="43" name="Text 41"/>
          <p:cNvSpPr/>
          <p:nvPr/>
        </p:nvSpPr>
        <p:spPr>
          <a:xfrm>
            <a:off x="4206240" y="2834640"/>
            <a:ext cx="365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572000" y="2834640"/>
            <a:ext cx="3840480" cy="301752"/>
          </a:xfrm>
          <a:prstGeom prst="rect">
            <a:avLst/>
          </a:prstGeom>
          <a:solidFill>
            <a:srgbClr val="0F1F3A"/>
          </a:solidFill>
          <a:ln/>
        </p:spPr>
      </p:sp>
      <p:sp>
        <p:nvSpPr>
          <p:cNvPr id="45" name="Text 43"/>
          <p:cNvSpPr/>
          <p:nvPr/>
        </p:nvSpPr>
        <p:spPr>
          <a:xfrm>
            <a:off x="4754880" y="2834640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Integration / WatchService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731520" y="3136392"/>
            <a:ext cx="3474720" cy="301752"/>
          </a:xfrm>
          <a:prstGeom prst="rect">
            <a:avLst/>
          </a:prstGeom>
          <a:solidFill>
            <a:srgbClr val="142242"/>
          </a:solidFill>
          <a:ln/>
        </p:spPr>
      </p:sp>
      <p:sp>
        <p:nvSpPr>
          <p:cNvPr id="47" name="Text 45"/>
          <p:cNvSpPr/>
          <p:nvPr/>
        </p:nvSpPr>
        <p:spPr>
          <a:xfrm>
            <a:off x="914400" y="3136392"/>
            <a:ext cx="3108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(SMTP / IMAP)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206240" y="3136392"/>
            <a:ext cx="365760" cy="301752"/>
          </a:xfrm>
          <a:prstGeom prst="rect">
            <a:avLst/>
          </a:prstGeom>
          <a:solidFill>
            <a:srgbClr val="142242"/>
          </a:solidFill>
          <a:ln/>
        </p:spPr>
      </p:sp>
      <p:sp>
        <p:nvSpPr>
          <p:cNvPr id="49" name="Text 47"/>
          <p:cNvSpPr/>
          <p:nvPr/>
        </p:nvSpPr>
        <p:spPr>
          <a:xfrm>
            <a:off x="4206240" y="3136392"/>
            <a:ext cx="365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572000" y="3136392"/>
            <a:ext cx="3840480" cy="301752"/>
          </a:xfrm>
          <a:prstGeom prst="rect">
            <a:avLst/>
          </a:prstGeom>
          <a:solidFill>
            <a:srgbClr val="142242"/>
          </a:solidFill>
          <a:ln/>
        </p:spPr>
      </p:sp>
      <p:sp>
        <p:nvSpPr>
          <p:cNvPr id="51" name="Text 49"/>
          <p:cNvSpPr/>
          <p:nvPr/>
        </p:nvSpPr>
        <p:spPr>
          <a:xfrm>
            <a:off x="4754880" y="3136392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Mail (JavaMailSender)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31520" y="3438144"/>
            <a:ext cx="3474720" cy="301752"/>
          </a:xfrm>
          <a:prstGeom prst="rect">
            <a:avLst/>
          </a:prstGeom>
          <a:solidFill>
            <a:srgbClr val="0F1F3A"/>
          </a:solidFill>
          <a:ln/>
        </p:spPr>
      </p:sp>
      <p:sp>
        <p:nvSpPr>
          <p:cNvPr id="53" name="Text 51"/>
          <p:cNvSpPr/>
          <p:nvPr/>
        </p:nvSpPr>
        <p:spPr>
          <a:xfrm>
            <a:off x="914400" y="3438144"/>
            <a:ext cx="3108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Connector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206240" y="3438144"/>
            <a:ext cx="365760" cy="301752"/>
          </a:xfrm>
          <a:prstGeom prst="rect">
            <a:avLst/>
          </a:prstGeom>
          <a:solidFill>
            <a:srgbClr val="0F1F3A"/>
          </a:solidFill>
          <a:ln/>
        </p:spPr>
      </p:sp>
      <p:sp>
        <p:nvSpPr>
          <p:cNvPr id="55" name="Text 53"/>
          <p:cNvSpPr/>
          <p:nvPr/>
        </p:nvSpPr>
        <p:spPr>
          <a:xfrm>
            <a:off x="4206240" y="3438144"/>
            <a:ext cx="365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4572000" y="3438144"/>
            <a:ext cx="3840480" cy="301752"/>
          </a:xfrm>
          <a:prstGeom prst="rect">
            <a:avLst/>
          </a:prstGeom>
          <a:solidFill>
            <a:srgbClr val="0F1F3A"/>
          </a:solidFill>
          <a:ln/>
        </p:spPr>
      </p:sp>
      <p:sp>
        <p:nvSpPr>
          <p:cNvPr id="57" name="Text 55"/>
          <p:cNvSpPr/>
          <p:nvPr/>
        </p:nvSpPr>
        <p:spPr>
          <a:xfrm>
            <a:off x="4754880" y="3438144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REST Client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731520" y="3739896"/>
            <a:ext cx="3474720" cy="301752"/>
          </a:xfrm>
          <a:prstGeom prst="rect">
            <a:avLst/>
          </a:prstGeom>
          <a:solidFill>
            <a:srgbClr val="142242"/>
          </a:solidFill>
          <a:ln/>
        </p:spPr>
      </p:sp>
      <p:sp>
        <p:nvSpPr>
          <p:cNvPr id="59" name="Text 57"/>
          <p:cNvSpPr/>
          <p:nvPr/>
        </p:nvSpPr>
        <p:spPr>
          <a:xfrm>
            <a:off x="914400" y="3739896"/>
            <a:ext cx="3108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(S3, SQS, SNS)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4206240" y="3739896"/>
            <a:ext cx="365760" cy="301752"/>
          </a:xfrm>
          <a:prstGeom prst="rect">
            <a:avLst/>
          </a:prstGeom>
          <a:solidFill>
            <a:srgbClr val="142242"/>
          </a:solidFill>
          <a:ln/>
        </p:spPr>
      </p:sp>
      <p:sp>
        <p:nvSpPr>
          <p:cNvPr id="61" name="Text 59"/>
          <p:cNvSpPr/>
          <p:nvPr/>
        </p:nvSpPr>
        <p:spPr>
          <a:xfrm>
            <a:off x="4206240" y="3739896"/>
            <a:ext cx="365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4572000" y="3739896"/>
            <a:ext cx="3840480" cy="301752"/>
          </a:xfrm>
          <a:prstGeom prst="rect">
            <a:avLst/>
          </a:prstGeom>
          <a:solidFill>
            <a:srgbClr val="142242"/>
          </a:solidFill>
          <a:ln/>
        </p:spPr>
      </p:sp>
      <p:sp>
        <p:nvSpPr>
          <p:cNvPr id="63" name="Text 61"/>
          <p:cNvSpPr/>
          <p:nvPr/>
        </p:nvSpPr>
        <p:spPr>
          <a:xfrm>
            <a:off x="4754880" y="3739896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Cloud AWS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731520" y="4041648"/>
            <a:ext cx="3474720" cy="301752"/>
          </a:xfrm>
          <a:prstGeom prst="rect">
            <a:avLst/>
          </a:prstGeom>
          <a:solidFill>
            <a:srgbClr val="0F1F3A"/>
          </a:solidFill>
          <a:ln/>
        </p:spPr>
      </p:sp>
      <p:sp>
        <p:nvSpPr>
          <p:cNvPr id="65" name="Text 63"/>
          <p:cNvSpPr/>
          <p:nvPr/>
        </p:nvSpPr>
        <p:spPr>
          <a:xfrm>
            <a:off x="914400" y="4041648"/>
            <a:ext cx="3108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DataWeave Scripts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4206240" y="4041648"/>
            <a:ext cx="365760" cy="301752"/>
          </a:xfrm>
          <a:prstGeom prst="rect">
            <a:avLst/>
          </a:prstGeom>
          <a:solidFill>
            <a:srgbClr val="0F1F3A"/>
          </a:solidFill>
          <a:ln/>
        </p:spPr>
      </p:sp>
      <p:sp>
        <p:nvSpPr>
          <p:cNvPr id="67" name="Text 65"/>
          <p:cNvSpPr/>
          <p:nvPr/>
        </p:nvSpPr>
        <p:spPr>
          <a:xfrm>
            <a:off x="4206240" y="4041648"/>
            <a:ext cx="365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4572000" y="4041648"/>
            <a:ext cx="3840480" cy="301752"/>
          </a:xfrm>
          <a:prstGeom prst="rect">
            <a:avLst/>
          </a:prstGeom>
          <a:solidFill>
            <a:srgbClr val="0F1F3A"/>
          </a:solidFill>
          <a:ln/>
        </p:spPr>
      </p:sp>
      <p:sp>
        <p:nvSpPr>
          <p:cNvPr id="69" name="Text 67"/>
          <p:cNvSpPr/>
          <p:nvPr/>
        </p:nvSpPr>
        <p:spPr>
          <a:xfrm>
            <a:off x="4754880" y="4041648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Stream API Operations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731520" y="4343400"/>
            <a:ext cx="3474720" cy="301752"/>
          </a:xfrm>
          <a:prstGeom prst="rect">
            <a:avLst/>
          </a:prstGeom>
          <a:solidFill>
            <a:srgbClr val="142242"/>
          </a:solidFill>
          <a:ln/>
        </p:spPr>
      </p:sp>
      <p:sp>
        <p:nvSpPr>
          <p:cNvPr id="71" name="Text 69"/>
          <p:cNvSpPr/>
          <p:nvPr/>
        </p:nvSpPr>
        <p:spPr>
          <a:xfrm>
            <a:off x="914400" y="4343400"/>
            <a:ext cx="3108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 / Cron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4206240" y="4343400"/>
            <a:ext cx="365760" cy="301752"/>
          </a:xfrm>
          <a:prstGeom prst="rect">
            <a:avLst/>
          </a:prstGeom>
          <a:solidFill>
            <a:srgbClr val="142242"/>
          </a:solidFill>
          <a:ln/>
        </p:spPr>
      </p:sp>
      <p:sp>
        <p:nvSpPr>
          <p:cNvPr id="73" name="Text 71"/>
          <p:cNvSpPr/>
          <p:nvPr/>
        </p:nvSpPr>
        <p:spPr>
          <a:xfrm>
            <a:off x="4206240" y="4343400"/>
            <a:ext cx="365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4572000" y="4343400"/>
            <a:ext cx="3840480" cy="301752"/>
          </a:xfrm>
          <a:prstGeom prst="rect">
            <a:avLst/>
          </a:prstGeom>
          <a:solidFill>
            <a:srgbClr val="142242"/>
          </a:solidFill>
          <a:ln/>
        </p:spPr>
      </p:sp>
      <p:sp>
        <p:nvSpPr>
          <p:cNvPr id="75" name="Text 73"/>
          <p:cNvSpPr/>
          <p:nvPr/>
        </p:nvSpPr>
        <p:spPr>
          <a:xfrm>
            <a:off x="4754880" y="4343400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@Scheduled Tasks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731520" y="4645152"/>
            <a:ext cx="3474720" cy="301752"/>
          </a:xfrm>
          <a:prstGeom prst="rect">
            <a:avLst/>
          </a:prstGeom>
          <a:solidFill>
            <a:srgbClr val="0F1F3A"/>
          </a:solidFill>
          <a:ln/>
        </p:spPr>
      </p:sp>
      <p:sp>
        <p:nvSpPr>
          <p:cNvPr id="77" name="Text 75"/>
          <p:cNvSpPr/>
          <p:nvPr/>
        </p:nvSpPr>
        <p:spPr>
          <a:xfrm>
            <a:off x="914400" y="4645152"/>
            <a:ext cx="3108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Handlers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4206240" y="4645152"/>
            <a:ext cx="365760" cy="301752"/>
          </a:xfrm>
          <a:prstGeom prst="rect">
            <a:avLst/>
          </a:prstGeom>
          <a:solidFill>
            <a:srgbClr val="0F1F3A"/>
          </a:solidFill>
          <a:ln/>
        </p:spPr>
      </p:sp>
      <p:sp>
        <p:nvSpPr>
          <p:cNvPr id="79" name="Text 77"/>
          <p:cNvSpPr/>
          <p:nvPr/>
        </p:nvSpPr>
        <p:spPr>
          <a:xfrm>
            <a:off x="4206240" y="4645152"/>
            <a:ext cx="365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80" name="Shape 78"/>
          <p:cNvSpPr/>
          <p:nvPr/>
        </p:nvSpPr>
        <p:spPr>
          <a:xfrm>
            <a:off x="4572000" y="4645152"/>
            <a:ext cx="3840480" cy="301752"/>
          </a:xfrm>
          <a:prstGeom prst="rect">
            <a:avLst/>
          </a:prstGeom>
          <a:solidFill>
            <a:srgbClr val="0F1F3A"/>
          </a:solidFill>
          <a:ln/>
        </p:spPr>
      </p:sp>
      <p:sp>
        <p:nvSpPr>
          <p:cNvPr id="81" name="Text 79"/>
          <p:cNvSpPr/>
          <p:nvPr/>
        </p:nvSpPr>
        <p:spPr>
          <a:xfrm>
            <a:off x="4754880" y="4645152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@ControllerAdvice + @ExceptionHandler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Intelligence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3931920" cy="2377440"/>
          </a:xfrm>
          <a:prstGeom prst="rect">
            <a:avLst/>
          </a:prstGeom>
          <a:solidFill>
            <a:srgbClr val="14224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60120"/>
            <a:ext cx="3931920" cy="45720"/>
          </a:xfrm>
          <a:prstGeom prst="rect">
            <a:avLst/>
          </a:prstGeom>
          <a:solidFill>
            <a:srgbClr val="00A1E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14300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143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Knowledge Base</a:t>
            </a:r>
            <a:endParaRPr lang="en-US" sz="15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00200"/>
            <a:ext cx="201168" cy="2011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5840" y="15727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266+ curated migration pattern documents</a:t>
            </a:r>
            <a:endParaRPr lang="en-US" sz="10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984248"/>
            <a:ext cx="201168" cy="20116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05840" y="195681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categories: HTTP, DB, DataWeave, Messaging, File, Email, Cloud, Advanced</a:t>
            </a:r>
            <a:endParaRPr lang="en-US" sz="10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368296"/>
            <a:ext cx="201168" cy="20116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05840" y="234086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embeddings (3072 dim) for semantic search</a:t>
            </a:r>
            <a:endParaRPr lang="en-US" sz="10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752344"/>
            <a:ext cx="201168" cy="20116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005840" y="27249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code generation with examples</a:t>
            </a:r>
            <a:endParaRPr lang="en-US" sz="1000" dirty="0"/>
          </a:p>
        </p:txBody>
      </p:sp>
      <p:sp>
        <p:nvSpPr>
          <p:cNvPr id="16" name="Shape 9"/>
          <p:cNvSpPr/>
          <p:nvPr/>
        </p:nvSpPr>
        <p:spPr>
          <a:xfrm>
            <a:off x="4754880" y="960120"/>
            <a:ext cx="3931920" cy="2377440"/>
          </a:xfrm>
          <a:prstGeom prst="rect">
            <a:avLst/>
          </a:prstGeom>
          <a:solidFill>
            <a:srgbClr val="14224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0"/>
          <p:cNvSpPr/>
          <p:nvPr/>
        </p:nvSpPr>
        <p:spPr>
          <a:xfrm>
            <a:off x="4754880" y="960120"/>
            <a:ext cx="3931920" cy="45720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1143000"/>
            <a:ext cx="320040" cy="32004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394960" y="1143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Multi-LLM Support</a:t>
            </a:r>
            <a:endParaRPr lang="en-US" sz="1500" dirty="0"/>
          </a:p>
        </p:txBody>
      </p:sp>
      <p:sp>
        <p:nvSpPr>
          <p:cNvPr id="20" name="Text 12"/>
          <p:cNvSpPr/>
          <p:nvPr/>
        </p:nvSpPr>
        <p:spPr>
          <a:xfrm>
            <a:off x="4983480" y="1600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(GPT-4.1)</a:t>
            </a:r>
            <a:endParaRPr lang="en-US" sz="1000" dirty="0"/>
          </a:p>
        </p:txBody>
      </p:sp>
      <p:sp>
        <p:nvSpPr>
          <p:cNvPr id="21" name="Text 13"/>
          <p:cNvSpPr/>
          <p:nvPr/>
        </p:nvSpPr>
        <p:spPr>
          <a:xfrm>
            <a:off x="7223760" y="1600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code generation</a:t>
            </a:r>
            <a:endParaRPr lang="en-US" sz="900" dirty="0"/>
          </a:p>
        </p:txBody>
      </p:sp>
      <p:sp>
        <p:nvSpPr>
          <p:cNvPr id="22" name="Text 14"/>
          <p:cNvSpPr/>
          <p:nvPr/>
        </p:nvSpPr>
        <p:spPr>
          <a:xfrm>
            <a:off x="4983480" y="19476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 (GPT-4o)</a:t>
            </a:r>
            <a:endParaRPr lang="en-US" sz="1000" dirty="0"/>
          </a:p>
        </p:txBody>
      </p:sp>
      <p:sp>
        <p:nvSpPr>
          <p:cNvPr id="23" name="Text 15"/>
          <p:cNvSpPr/>
          <p:nvPr/>
        </p:nvSpPr>
        <p:spPr>
          <a:xfrm>
            <a:off x="7223760" y="19476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fallback</a:t>
            </a:r>
            <a:endParaRPr lang="en-US" sz="900" dirty="0"/>
          </a:p>
        </p:txBody>
      </p:sp>
      <p:sp>
        <p:nvSpPr>
          <p:cNvPr id="24" name="Text 16"/>
          <p:cNvSpPr/>
          <p:nvPr/>
        </p:nvSpPr>
        <p:spPr>
          <a:xfrm>
            <a:off x="4983480" y="229514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Claude</a:t>
            </a:r>
            <a:endParaRPr lang="en-US" sz="1000" dirty="0"/>
          </a:p>
        </p:txBody>
      </p:sp>
      <p:sp>
        <p:nvSpPr>
          <p:cNvPr id="25" name="Text 17"/>
          <p:cNvSpPr/>
          <p:nvPr/>
        </p:nvSpPr>
        <p:spPr>
          <a:xfrm>
            <a:off x="7223760" y="229514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validation</a:t>
            </a:r>
            <a:endParaRPr lang="en-US" sz="900" dirty="0"/>
          </a:p>
        </p:txBody>
      </p:sp>
      <p:sp>
        <p:nvSpPr>
          <p:cNvPr id="26" name="Text 18"/>
          <p:cNvSpPr/>
          <p:nvPr/>
        </p:nvSpPr>
        <p:spPr>
          <a:xfrm>
            <a:off x="4983480" y="26426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</a:t>
            </a:r>
            <a:endParaRPr lang="en-US" sz="1000" dirty="0"/>
          </a:p>
        </p:txBody>
      </p:sp>
      <p:sp>
        <p:nvSpPr>
          <p:cNvPr id="27" name="Text 19"/>
          <p:cNvSpPr/>
          <p:nvPr/>
        </p:nvSpPr>
        <p:spPr>
          <a:xfrm>
            <a:off x="7223760" y="26426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validation</a:t>
            </a:r>
            <a:endParaRPr lang="en-US" sz="900" dirty="0"/>
          </a:p>
        </p:txBody>
      </p:sp>
      <p:sp>
        <p:nvSpPr>
          <p:cNvPr id="28" name="Text 20"/>
          <p:cNvSpPr/>
          <p:nvPr/>
        </p:nvSpPr>
        <p:spPr>
          <a:xfrm>
            <a:off x="4983480" y="29900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DeepSeek, Groq, Ollama</a:t>
            </a:r>
            <a:endParaRPr lang="en-US" sz="1000" dirty="0"/>
          </a:p>
        </p:txBody>
      </p:sp>
      <p:sp>
        <p:nvSpPr>
          <p:cNvPr id="29" name="Text 21"/>
          <p:cNvSpPr/>
          <p:nvPr/>
        </p:nvSpPr>
        <p:spPr>
          <a:xfrm>
            <a:off x="7223760" y="29900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options</a:t>
            </a:r>
            <a:endParaRPr lang="en-US" sz="900" dirty="0"/>
          </a:p>
        </p:txBody>
      </p:sp>
      <p:sp>
        <p:nvSpPr>
          <p:cNvPr id="30" name="Shape 22"/>
          <p:cNvSpPr/>
          <p:nvPr/>
        </p:nvSpPr>
        <p:spPr>
          <a:xfrm>
            <a:off x="457200" y="3520440"/>
            <a:ext cx="8229600" cy="640080"/>
          </a:xfrm>
          <a:prstGeom prst="rect">
            <a:avLst/>
          </a:prstGeom>
          <a:solidFill>
            <a:srgbClr val="14224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1" name="Shape 23"/>
          <p:cNvSpPr/>
          <p:nvPr/>
        </p:nvSpPr>
        <p:spPr>
          <a:xfrm>
            <a:off x="457200" y="3520440"/>
            <a:ext cx="8229600" cy="45720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32" name="Text 24"/>
          <p:cNvSpPr/>
          <p:nvPr/>
        </p:nvSpPr>
        <p:spPr>
          <a:xfrm>
            <a:off x="457200" y="3566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Loop:   Parse  →  Query RAG  →  Generate  →  Validate  →  Improve  →  Output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Spring Boot Project Generation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4114800" cy="374904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4114800" cy="320040"/>
          </a:xfrm>
          <a:prstGeom prst="rect">
            <a:avLst/>
          </a:prstGeom>
          <a:solidFill>
            <a:srgbClr val="1A2C4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914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DB3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project-name/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28016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A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pom.xml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49961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D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src/main/java/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71907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B3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Application.java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193852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B3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controller/*.java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15798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B3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service/*.java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23774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B3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repository/*.java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259689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2AB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listener/*.java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281635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2AB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scheduler/*.java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303580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config/ (20+ classes)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325526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exception/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34747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D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src/main/resources/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369417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application.properties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" y="391363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logback-spring.xml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413308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Dockerfile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435254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D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src/test/java/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46320" y="1005840"/>
            <a:ext cx="3931920" cy="640080"/>
          </a:xfrm>
          <a:prstGeom prst="rect">
            <a:avLst/>
          </a:prstGeom>
          <a:solidFill>
            <a:srgbClr val="14224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46320" y="1005840"/>
            <a:ext cx="54864" cy="640080"/>
          </a:xfrm>
          <a:prstGeom prst="rect">
            <a:avLst/>
          </a:prstGeom>
          <a:solidFill>
            <a:srgbClr val="00A1E0"/>
          </a:solidFill>
          <a:ln/>
        </p:spPr>
      </p:sp>
      <p:sp>
        <p:nvSpPr>
          <p:cNvPr id="24" name="Text 22"/>
          <p:cNvSpPr/>
          <p:nvPr/>
        </p:nvSpPr>
        <p:spPr>
          <a:xfrm>
            <a:off x="5074920" y="10515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Auto-Detected Dependencies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74920" y="13075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 pom.xml with all required Spring Boot starters, based on connector analysis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846320" y="1737360"/>
            <a:ext cx="3931920" cy="640080"/>
          </a:xfrm>
          <a:prstGeom prst="rect">
            <a:avLst/>
          </a:prstGeom>
          <a:solidFill>
            <a:srgbClr val="14224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46320" y="1737360"/>
            <a:ext cx="54864" cy="640080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28" name="Text 26"/>
          <p:cNvSpPr/>
          <p:nvPr/>
        </p:nvSpPr>
        <p:spPr>
          <a:xfrm>
            <a:off x="5074920" y="17830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Multi-Profile Configuration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074920" y="20391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application-dev.properties and application-prod.properties with environment-specific settings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846320" y="2468880"/>
            <a:ext cx="3931920" cy="640080"/>
          </a:xfrm>
          <a:prstGeom prst="rect">
            <a:avLst/>
          </a:prstGeom>
          <a:solidFill>
            <a:srgbClr val="14224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46320" y="2468880"/>
            <a:ext cx="54864" cy="6400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2" name="Text 30"/>
          <p:cNvSpPr/>
          <p:nvPr/>
        </p:nvSpPr>
        <p:spPr>
          <a:xfrm>
            <a:off x="5074920" y="25146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Config Classes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074920" y="27706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JMS, AMQP, Kafka, Cache, Security, Async, Batch, SFTP, S3 — generated conditionally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846320" y="3200400"/>
            <a:ext cx="3931920" cy="640080"/>
          </a:xfrm>
          <a:prstGeom prst="rect">
            <a:avLst/>
          </a:prstGeom>
          <a:solidFill>
            <a:srgbClr val="14224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46320" y="3200400"/>
            <a:ext cx="54864" cy="6400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6" name="Text 34"/>
          <p:cNvSpPr/>
          <p:nvPr/>
        </p:nvSpPr>
        <p:spPr>
          <a:xfrm>
            <a:off x="5074920" y="32461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Ready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074920" y="35021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Dockerfile, docker-compose.yml, logback logging, exception handlers included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846320" y="3931920"/>
            <a:ext cx="3931920" cy="640080"/>
          </a:xfrm>
          <a:prstGeom prst="rect">
            <a:avLst/>
          </a:prstGeom>
          <a:solidFill>
            <a:srgbClr val="14224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846320" y="3931920"/>
            <a:ext cx="54864" cy="64008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0" name="Text 38"/>
          <p:cNvSpPr/>
          <p:nvPr/>
        </p:nvSpPr>
        <p:spPr>
          <a:xfrm>
            <a:off x="5074920" y="39776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Templates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074920" y="42336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5 test scaffolding for main application class and key components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A1E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Features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560320" cy="1600200"/>
          </a:xfrm>
          <a:prstGeom prst="rect">
            <a:avLst/>
          </a:prstGeom>
          <a:solidFill>
            <a:srgbClr val="14224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17320" y="1188720"/>
            <a:ext cx="640080" cy="640080"/>
          </a:xfrm>
          <a:prstGeom prst="ellipse">
            <a:avLst/>
          </a:prstGeom>
          <a:solidFill>
            <a:srgbClr val="0F1F3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128016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19202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A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Dashboard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94360" y="2194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migration stats, history,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usage analytics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91840" y="1005840"/>
            <a:ext cx="2560320" cy="1600200"/>
          </a:xfrm>
          <a:prstGeom prst="rect">
            <a:avLst/>
          </a:prstGeom>
          <a:solidFill>
            <a:srgbClr val="14224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251960" y="1188720"/>
            <a:ext cx="640080" cy="640080"/>
          </a:xfrm>
          <a:prstGeom prst="ellipse">
            <a:avLst/>
          </a:prstGeom>
          <a:solidFill>
            <a:srgbClr val="0F1F3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28016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291840" y="19202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Integration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429000" y="2194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push to repos,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management, auto-commit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126480" y="1005840"/>
            <a:ext cx="2560320" cy="1600200"/>
          </a:xfrm>
          <a:prstGeom prst="rect">
            <a:avLst/>
          </a:prstGeom>
          <a:solidFill>
            <a:srgbClr val="14224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086600" y="1188720"/>
            <a:ext cx="640080" cy="640080"/>
          </a:xfrm>
          <a:prstGeom prst="ellipse">
            <a:avLst/>
          </a:prstGeom>
          <a:solidFill>
            <a:srgbClr val="0F1F3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28016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26480" y="19202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Validation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263640" y="2194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 build with real-time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streaming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57200" y="2834640"/>
            <a:ext cx="2560320" cy="1600200"/>
          </a:xfrm>
          <a:prstGeom prst="rect">
            <a:avLst/>
          </a:prstGeom>
          <a:solidFill>
            <a:srgbClr val="14224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417320" y="3017520"/>
            <a:ext cx="640080" cy="640080"/>
          </a:xfrm>
          <a:prstGeom prst="ellipse">
            <a:avLst/>
          </a:prstGeom>
          <a:solidFill>
            <a:srgbClr val="0F1F3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8760" y="3108960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57200" y="3749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A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594360" y="4023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search, delete migration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patterns, admin controls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3291840" y="2834640"/>
            <a:ext cx="2560320" cy="1600200"/>
          </a:xfrm>
          <a:prstGeom prst="rect">
            <a:avLst/>
          </a:prstGeom>
          <a:solidFill>
            <a:srgbClr val="14224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251960" y="3017520"/>
            <a:ext cx="640080" cy="640080"/>
          </a:xfrm>
          <a:prstGeom prst="ellipse">
            <a:avLst/>
          </a:prstGeom>
          <a:solidFill>
            <a:srgbClr val="0F1F3A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3400" y="3108960"/>
            <a:ext cx="457200" cy="4572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291840" y="3749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SSO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3429000" y="4023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AD auth, role-based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(Admin/User/Viewer)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6126480" y="2834640"/>
            <a:ext cx="2560320" cy="1600200"/>
          </a:xfrm>
          <a:prstGeom prst="rect">
            <a:avLst/>
          </a:prstGeom>
          <a:solidFill>
            <a:srgbClr val="14224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7086600" y="3017520"/>
            <a:ext cx="640080" cy="640080"/>
          </a:xfrm>
          <a:prstGeom prst="ellipse">
            <a:avLst/>
          </a:prstGeom>
          <a:solidFill>
            <a:srgbClr val="0F1F3A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8040" y="3108960"/>
            <a:ext cx="457200" cy="45720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126480" y="3749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Multi-Format Upload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6263640" y="4023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XML, multiple files,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 archive support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Enterprise-Grade Security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023360" cy="731520"/>
          </a:xfrm>
          <a:prstGeom prst="rect">
            <a:avLst/>
          </a:prstGeom>
          <a:solidFill>
            <a:srgbClr val="14224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70432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0789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Entra ID (SSO)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97280" y="1371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2.0 / OpenID Connect with JWT validation and JWKS caching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754880" y="1005840"/>
            <a:ext cx="4023360" cy="731520"/>
          </a:xfrm>
          <a:prstGeom prst="rect">
            <a:avLst/>
          </a:prstGeom>
          <a:solidFill>
            <a:srgbClr val="14224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170432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94960" y="10789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Key Vault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5394960" y="1371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management with Terraform-managed access policies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457200" y="1874520"/>
            <a:ext cx="4023360" cy="731520"/>
          </a:xfrm>
          <a:prstGeom prst="rect">
            <a:avLst/>
          </a:prstGeom>
          <a:solidFill>
            <a:srgbClr val="14224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039112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97280" y="19476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XXE Protection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1097280" y="2240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defusedxml library rejects external entities in XML input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4754880" y="1874520"/>
            <a:ext cx="4023360" cy="731520"/>
          </a:xfrm>
          <a:prstGeom prst="rect">
            <a:avLst/>
          </a:prstGeom>
          <a:solidFill>
            <a:srgbClr val="14224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2039112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394960" y="19476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Traversal Prevention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5394960" y="2240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Sanitized file paths with '..' rejection on all file operations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457200" y="2743200"/>
            <a:ext cx="4023360" cy="731520"/>
          </a:xfrm>
          <a:prstGeom prst="rect">
            <a:avLst/>
          </a:prstGeom>
          <a:solidFill>
            <a:srgbClr val="14224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2907792"/>
            <a:ext cx="365760" cy="36576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097280" y="28163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Headers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1097280" y="3108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CORS, CSP, HSTS, X-Content-Type-Options enforced globally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4754880" y="2743200"/>
            <a:ext cx="4023360" cy="731520"/>
          </a:xfrm>
          <a:prstGeom prst="rect">
            <a:avLst/>
          </a:prstGeom>
          <a:solidFill>
            <a:srgbClr val="14224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2907792"/>
            <a:ext cx="365760" cy="36576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394960" y="28163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Database</a:t>
            </a:r>
            <a:endParaRPr lang="en-US" sz="1200" dirty="0"/>
          </a:p>
        </p:txBody>
      </p:sp>
      <p:sp>
        <p:nvSpPr>
          <p:cNvPr id="27" name="Text 19"/>
          <p:cNvSpPr/>
          <p:nvPr/>
        </p:nvSpPr>
        <p:spPr>
          <a:xfrm>
            <a:off x="5394960" y="3108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SSL/TLS required, encrypted at rest</a:t>
            </a:r>
            <a:endParaRPr lang="en-US" sz="1000" dirty="0"/>
          </a:p>
        </p:txBody>
      </p:sp>
      <p:sp>
        <p:nvSpPr>
          <p:cNvPr id="28" name="Shape 20"/>
          <p:cNvSpPr/>
          <p:nvPr/>
        </p:nvSpPr>
        <p:spPr>
          <a:xfrm>
            <a:off x="457200" y="3611880"/>
            <a:ext cx="4023360" cy="731520"/>
          </a:xfrm>
          <a:prstGeom prst="rect">
            <a:avLst/>
          </a:prstGeom>
          <a:solidFill>
            <a:srgbClr val="14224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3776472"/>
            <a:ext cx="365760" cy="36576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1097280" y="36850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200" dirty="0"/>
          </a:p>
        </p:txBody>
      </p:sp>
      <p:sp>
        <p:nvSpPr>
          <p:cNvPr id="31" name="Text 22"/>
          <p:cNvSpPr/>
          <p:nvPr/>
        </p:nvSpPr>
        <p:spPr>
          <a:xfrm>
            <a:off x="1097280" y="3977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/ User / Viewer roles with granular permissions</a:t>
            </a:r>
            <a:endParaRPr lang="en-US" sz="1000" dirty="0"/>
          </a:p>
        </p:txBody>
      </p:sp>
      <p:sp>
        <p:nvSpPr>
          <p:cNvPr id="32" name="Shape 23"/>
          <p:cNvSpPr/>
          <p:nvPr/>
        </p:nvSpPr>
        <p:spPr>
          <a:xfrm>
            <a:off x="4754880" y="3611880"/>
            <a:ext cx="4023360" cy="731520"/>
          </a:xfrm>
          <a:prstGeom prst="rect">
            <a:avLst/>
          </a:prstGeom>
          <a:solidFill>
            <a:srgbClr val="14224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92040" y="3776472"/>
            <a:ext cx="365760" cy="365760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5394960" y="36850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IaC</a:t>
            </a:r>
            <a:endParaRPr lang="en-US" sz="1200" dirty="0"/>
          </a:p>
        </p:txBody>
      </p:sp>
      <p:sp>
        <p:nvSpPr>
          <p:cNvPr id="35" name="Text 25"/>
          <p:cNvSpPr/>
          <p:nvPr/>
        </p:nvSpPr>
        <p:spPr>
          <a:xfrm>
            <a:off x="5394960" y="3977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infrastructure with state-managed Azure resources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2ABD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7680960" cy="457200"/>
          </a:xfrm>
          <a:prstGeom prst="rect">
            <a:avLst/>
          </a:prstGeom>
          <a:solidFill>
            <a:srgbClr val="142242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960120"/>
            <a:ext cx="54864" cy="457200"/>
          </a:xfrm>
          <a:prstGeom prst="rect">
            <a:avLst/>
          </a:prstGeom>
          <a:solidFill>
            <a:srgbClr val="00A1E0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9601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560320" y="96012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 |  TypeScript  |  Vite  |  TailwindCSS  |  shadcn/ui  |  Zustand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1508760"/>
            <a:ext cx="7680960" cy="457200"/>
          </a:xfrm>
          <a:prstGeom prst="rect">
            <a:avLst/>
          </a:prstGeom>
          <a:solidFill>
            <a:srgbClr val="142242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1508760"/>
            <a:ext cx="54864" cy="457200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15087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60320" y="150876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  |  FastAPI  |  asyncpg  |  Azure Functions (Serverless)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057400"/>
            <a:ext cx="7680960" cy="457200"/>
          </a:xfrm>
          <a:prstGeom prst="rect">
            <a:avLst/>
          </a:prstGeom>
          <a:solidFill>
            <a:srgbClr val="142242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2057400"/>
            <a:ext cx="54864" cy="4572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20574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60320" y="205740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API  |  Azure OpenAI  |  pgvector  |  tiktoken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2606040"/>
            <a:ext cx="7680960" cy="457200"/>
          </a:xfrm>
          <a:prstGeom prst="rect">
            <a:avLst/>
          </a:prstGeom>
          <a:solidFill>
            <a:srgbClr val="142242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" y="2606040"/>
            <a:ext cx="54864" cy="4572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26060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560320" y="260604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Flexible Server  |  Redis Cache  |  Azure Table Storage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3154680"/>
            <a:ext cx="7680960" cy="457200"/>
          </a:xfrm>
          <a:prstGeom prst="rect">
            <a:avLst/>
          </a:prstGeom>
          <a:solidFill>
            <a:srgbClr val="142242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" y="3154680"/>
            <a:ext cx="54864" cy="457200"/>
          </a:xfrm>
          <a:prstGeom prst="rect">
            <a:avLst/>
          </a:prstGeom>
          <a:solidFill>
            <a:srgbClr val="12ABDB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" y="31546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A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560320" y="315468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Static Web Apps  |  Azure Functions  |  Azure Key Vault  |  Azure CDN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" y="3703320"/>
            <a:ext cx="7680960" cy="457200"/>
          </a:xfrm>
          <a:prstGeom prst="rect">
            <a:avLst/>
          </a:prstGeom>
          <a:solidFill>
            <a:srgbClr val="142242"/>
          </a:solidFill>
          <a:ln/>
        </p:spPr>
      </p:sp>
      <p:sp>
        <p:nvSpPr>
          <p:cNvPr id="25" name="Shape 23"/>
          <p:cNvSpPr/>
          <p:nvPr/>
        </p:nvSpPr>
        <p:spPr>
          <a:xfrm>
            <a:off x="731520" y="3703320"/>
            <a:ext cx="54864" cy="45720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26" name="Text 24"/>
          <p:cNvSpPr/>
          <p:nvPr/>
        </p:nvSpPr>
        <p:spPr>
          <a:xfrm>
            <a:off x="1005840" y="37033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560320" y="370332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 |  Docker  |  CI/CD Pipeline  |  Azure Container Registry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31520" y="4251960"/>
            <a:ext cx="7680960" cy="457200"/>
          </a:xfrm>
          <a:prstGeom prst="rect">
            <a:avLst/>
          </a:prstGeom>
          <a:solidFill>
            <a:srgbClr val="142242"/>
          </a:solidFill>
          <a:ln/>
        </p:spPr>
      </p:sp>
      <p:sp>
        <p:nvSpPr>
          <p:cNvPr id="29" name="Shape 27"/>
          <p:cNvSpPr/>
          <p:nvPr/>
        </p:nvSpPr>
        <p:spPr>
          <a:xfrm>
            <a:off x="731520" y="4251960"/>
            <a:ext cx="54864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1005840" y="42519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560320" y="425196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MSAL.js  |  Azure Entra ID  |  JWT (RS256)  |  JWKS Validation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 &amp; Value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920240" cy="1280160"/>
          </a:xfrm>
          <a:prstGeom prst="rect">
            <a:avLst/>
          </a:prstGeom>
          <a:solidFill>
            <a:srgbClr val="14224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515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70-80%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Manual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606040" y="1005840"/>
            <a:ext cx="1920240" cy="1280160"/>
          </a:xfrm>
          <a:prstGeom prst="rect">
            <a:avLst/>
          </a:prstGeom>
          <a:solidFill>
            <a:srgbClr val="14224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06040" y="10515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A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Weeks→Hrs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606040" y="17373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005840"/>
            <a:ext cx="1920240" cy="1280160"/>
          </a:xfrm>
          <a:prstGeom prst="rect">
            <a:avLst/>
          </a:prstGeom>
          <a:solidFill>
            <a:srgbClr val="14224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54880" y="10515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754880" y="17373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903720" y="1005840"/>
            <a:ext cx="1920240" cy="1280160"/>
          </a:xfrm>
          <a:prstGeom prst="rect">
            <a:avLst/>
          </a:prstGeom>
          <a:solidFill>
            <a:srgbClr val="14224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903720" y="10515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266+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903720" y="17373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</a:t>
            </a:r>
            <a:endParaRPr lang="en-US" sz="11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560320"/>
            <a:ext cx="201168" cy="201168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051560" y="2532888"/>
            <a:ext cx="7315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Consistent, standardized Spring Boot output across all migrations</a:t>
            </a:r>
            <a:endParaRPr lang="en-US" sz="12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907792"/>
            <a:ext cx="201168" cy="20116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051560" y="2880360"/>
            <a:ext cx="7315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audit trail — every migration tracked with tokens, duration, status</a:t>
            </a:r>
            <a:endParaRPr lang="en-US" sz="12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255264"/>
            <a:ext cx="201168" cy="20116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051560" y="3227832"/>
            <a:ext cx="7315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dependency on scarce MuleSoft + Java dual-skilled developers</a:t>
            </a:r>
            <a:endParaRPr lang="en-US" sz="12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602736"/>
            <a:ext cx="201168" cy="20116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51560" y="3575304"/>
            <a:ext cx="7315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Accelerated cloud modernization timelines for enterprise portfolios</a:t>
            </a:r>
            <a:endParaRPr lang="en-US" sz="120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950208"/>
            <a:ext cx="201168" cy="20116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051560" y="3922776"/>
            <a:ext cx="7315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risk of human errors through AI-assisted validation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A1E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Migration Example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731520"/>
            <a:ext cx="4023360" cy="320040"/>
          </a:xfrm>
          <a:prstGeom prst="rect">
            <a:avLst/>
          </a:prstGeom>
          <a:solidFill>
            <a:srgbClr val="00A1E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7315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MuleSoft XML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4023360" cy="28346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097280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A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&lt;flow name="getCustomersFlow"&gt;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2920" y="1261872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A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&lt;http:listener path="/api/customers"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1426464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A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method="GET"/&gt;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02920" y="1591056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A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&lt;logger message="Fetching..."/&gt;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02920" y="175564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A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&lt;db:select config-ref="DB_Config"&gt;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02920" y="1920240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A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&lt;db:sql&gt;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02920" y="2084832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A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SELECT * FROM customers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02920" y="2249424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A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&lt;/db:sql&gt;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02920" y="2414016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A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&lt;/db:select&gt;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02920" y="257860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A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&lt;ee:transform&gt;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02920" y="2743200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A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&lt;ee:set-payload&gt;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02920" y="2907792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A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%dw 2.0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02920" y="3072384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A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output application/json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02920" y="3236976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A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--- payload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02920" y="340156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A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&lt;/ee:set-payload&gt;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02920" y="3566160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A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&lt;/ee:transform&gt;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02920" y="3730752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A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&lt;/flow&gt;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206240" y="20116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25" name="Shape 23"/>
          <p:cNvSpPr/>
          <p:nvPr/>
        </p:nvSpPr>
        <p:spPr>
          <a:xfrm>
            <a:off x="4754880" y="731520"/>
            <a:ext cx="4023360" cy="320040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7315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Spring Boot Java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754880" y="1051560"/>
            <a:ext cx="4023360" cy="28346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8" name="Text 26"/>
          <p:cNvSpPr/>
          <p:nvPr/>
        </p:nvSpPr>
        <p:spPr>
          <a:xfrm>
            <a:off x="4892040" y="1097280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DB3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@RestController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892040" y="1261872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DB3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@RequestMapping("/api")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892040" y="1426464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DB3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@Slf4j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892040" y="1591056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DB3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CustomerController {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892040" y="175564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892040" y="1920240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DB3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@Autowired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892040" y="2084832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DB3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CustomerService service;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892040" y="2249424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892040" y="2414016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DB3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@GetMapping("/customers")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892040" y="257860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DB3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ResponseEntity&lt;List&lt;Customer&gt;&gt;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892040" y="2743200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DB3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getAllCustomers() {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892040" y="2907792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DB3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log.info("Fetching...");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892040" y="3072384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DB3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List&lt;Customer&gt; result =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892040" y="3236976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DB3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service.findAll();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892040" y="340156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DB3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ResponseEntity.ok(result);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892040" y="3566160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DB3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892040" y="3730752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DB3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365760" y="4114800"/>
            <a:ext cx="8412480" cy="502920"/>
          </a:xfrm>
          <a:prstGeom prst="rect">
            <a:avLst/>
          </a:prstGeom>
          <a:solidFill>
            <a:srgbClr val="6DB33F">
              <a:alpha val="15000"/>
            </a:srgbClr>
          </a:solidFill>
          <a:ln w="12700">
            <a:solidFill>
              <a:srgbClr val="6DB33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1148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in seconds, not days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2ABD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Roadmap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651760" cy="3200400"/>
          </a:xfrm>
          <a:prstGeom prst="rect">
            <a:avLst/>
          </a:prstGeom>
          <a:solidFill>
            <a:srgbClr val="14224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2651760" cy="45720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430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Near-Term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554480"/>
            <a:ext cx="2103120" cy="0"/>
          </a:xfrm>
          <a:prstGeom prst="line">
            <a:avLst/>
          </a:prstGeom>
          <a:noFill/>
          <a:ln w="12700">
            <a:solidFill>
              <a:srgbClr val="6DB33F">
                <a:alpha val="40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37360"/>
            <a:ext cx="182880" cy="1828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16916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Gradle build support</a:t>
            </a:r>
            <a:endParaRPr lang="en-US" sz="11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240280"/>
            <a:ext cx="182880" cy="1828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21945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test generation (JUnit 5, Mockito)</a:t>
            </a:r>
            <a:endParaRPr lang="en-US" sz="11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743200"/>
            <a:ext cx="182880" cy="1828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14400" y="26974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rate limiting and quotas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3337560" y="1005840"/>
            <a:ext cx="2651760" cy="3200400"/>
          </a:xfrm>
          <a:prstGeom prst="rect">
            <a:avLst/>
          </a:prstGeom>
          <a:solidFill>
            <a:srgbClr val="14224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337560" y="1005840"/>
            <a:ext cx="2651760" cy="45720"/>
          </a:xfrm>
          <a:prstGeom prst="rect">
            <a:avLst/>
          </a:prstGeom>
          <a:solidFill>
            <a:srgbClr val="00A1E0"/>
          </a:solidFill>
          <a:ln/>
        </p:spPr>
      </p:sp>
      <p:sp>
        <p:nvSpPr>
          <p:cNvPr id="16" name="Text 11"/>
          <p:cNvSpPr/>
          <p:nvPr/>
        </p:nvSpPr>
        <p:spPr>
          <a:xfrm>
            <a:off x="3337560" y="11430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Mid-Term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3611880" y="1554480"/>
            <a:ext cx="2103120" cy="0"/>
          </a:xfrm>
          <a:prstGeom prst="line">
            <a:avLst/>
          </a:prstGeom>
          <a:noFill/>
          <a:ln w="12700">
            <a:solidFill>
              <a:srgbClr val="00A1E0">
                <a:alpha val="40000"/>
              </a:srgbClr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0440" y="1737360"/>
            <a:ext cx="182880" cy="1828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3794760" y="16916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Mule 3 → Mule 4 upgrade path</a:t>
            </a:r>
            <a:endParaRPr lang="en-US" sz="11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0440" y="2240280"/>
            <a:ext cx="182880" cy="18288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3794760" y="21945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Kubernetes-native deployment generation</a:t>
            </a:r>
            <a:endParaRPr lang="en-US" sz="11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0440" y="2743200"/>
            <a:ext cx="182880" cy="18288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3794760" y="26974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collaboration &amp; multi-user workspaces</a:t>
            </a:r>
            <a:endParaRPr lang="en-US" sz="1100" dirty="0"/>
          </a:p>
        </p:txBody>
      </p:sp>
      <p:sp>
        <p:nvSpPr>
          <p:cNvPr id="24" name="Shape 16"/>
          <p:cNvSpPr/>
          <p:nvPr/>
        </p:nvSpPr>
        <p:spPr>
          <a:xfrm>
            <a:off x="6217920" y="1005840"/>
            <a:ext cx="2651760" cy="3200400"/>
          </a:xfrm>
          <a:prstGeom prst="rect">
            <a:avLst/>
          </a:prstGeom>
          <a:solidFill>
            <a:srgbClr val="14224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17"/>
          <p:cNvSpPr/>
          <p:nvPr/>
        </p:nvSpPr>
        <p:spPr>
          <a:xfrm>
            <a:off x="6217920" y="1005840"/>
            <a:ext cx="265176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6" name="Text 18"/>
          <p:cNvSpPr/>
          <p:nvPr/>
        </p:nvSpPr>
        <p:spPr>
          <a:xfrm>
            <a:off x="6217920" y="11430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</a:t>
            </a:r>
            <a:endParaRPr lang="en-US" sz="1600" dirty="0"/>
          </a:p>
        </p:txBody>
      </p:sp>
      <p:sp>
        <p:nvSpPr>
          <p:cNvPr id="27" name="Shape 19"/>
          <p:cNvSpPr/>
          <p:nvPr/>
        </p:nvSpPr>
        <p:spPr>
          <a:xfrm>
            <a:off x="6492240" y="1554480"/>
            <a:ext cx="2103120" cy="0"/>
          </a:xfrm>
          <a:prstGeom prst="line">
            <a:avLst/>
          </a:prstGeom>
          <a:noFill/>
          <a:ln w="12700">
            <a:solidFill>
              <a:srgbClr val="8B5CF6">
                <a:alpha val="40000"/>
              </a:srgbClr>
            </a:solidFill>
            <a:prstDash val="solid"/>
          </a:ln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0" y="1737360"/>
            <a:ext cx="182880" cy="18288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6675120" y="16916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connector SDK</a:t>
            </a:r>
            <a:endParaRPr lang="en-US" sz="1100" dirty="0"/>
          </a:p>
        </p:txBody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0" y="2240280"/>
            <a:ext cx="182880" cy="182880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6675120" y="21945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profiling integration</a:t>
            </a:r>
            <a:endParaRPr lang="en-US" sz="1100" dirty="0"/>
          </a:p>
        </p:txBody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0" y="2743200"/>
            <a:ext cx="182880" cy="182880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6675120" y="26974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scanning (OWASP, SonarQube)</a:t>
            </a:r>
            <a:endParaRPr lang="en-US" sz="1100" dirty="0"/>
          </a:p>
        </p:txBody>
      </p:sp>
      <p:pic>
        <p:nvPicPr>
          <p:cNvPr id="3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0800" y="3246120"/>
            <a:ext cx="182880" cy="182880"/>
          </a:xfrm>
          <a:prstGeom prst="rect">
            <a:avLst/>
          </a:prstGeom>
        </p:spPr>
      </p:pic>
      <p:sp>
        <p:nvSpPr>
          <p:cNvPr id="35" name="Text 23"/>
          <p:cNvSpPr/>
          <p:nvPr/>
        </p:nvSpPr>
        <p:spPr>
          <a:xfrm>
            <a:off x="6675120" y="32004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webhooks for auto-migration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A1E0"/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1828800"/>
            <a:ext cx="3657600" cy="3657600"/>
          </a:xfrm>
          <a:prstGeom prst="ellipse">
            <a:avLst/>
          </a:prstGeom>
          <a:solidFill>
            <a:srgbClr val="00A1E0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0" y="-457200"/>
            <a:ext cx="3657600" cy="3657600"/>
          </a:xfrm>
          <a:prstGeom prst="ellipse">
            <a:avLst/>
          </a:prstGeom>
          <a:solidFill>
            <a:srgbClr val="6DB33F">
              <a:alpha val="6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0" y="9144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A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MuleSoft to Spring Boot — Agentic AI Migration Platform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377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Legacy Integrations into Modern Microservices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0" y="31089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F1F3A"/>
          </a:solidFill>
          <a:ln/>
        </p:spPr>
      </p:sp>
      <p:sp>
        <p:nvSpPr>
          <p:cNvPr id="10" name="Text 8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B8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AI  |  Deployed on Azure  |  Enterprise Ready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MuleSoft to Spring Boot - Agentic AI Migration Platform</dc:title>
  <dc:subject>PptxGenJS Presentation</dc:subject>
  <dc:creator>Harinadh</dc:creator>
  <cp:lastModifiedBy>Harinadh</cp:lastModifiedBy>
  <cp:revision>1</cp:revision>
  <dcterms:created xsi:type="dcterms:W3CDTF">2026-04-12T03:45:59Z</dcterms:created>
  <dcterms:modified xsi:type="dcterms:W3CDTF">2026-04-12T03:45:59Z</dcterms:modified>
</cp:coreProperties>
</file>