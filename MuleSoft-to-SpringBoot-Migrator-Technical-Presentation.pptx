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0A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160020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MuleSoft-to-Spring Boot Migrator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Migration Platform — Technical Deep-Dive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3017520"/>
            <a:ext cx="1463040" cy="347472"/>
          </a:xfrm>
          <a:prstGeom prst="rect">
            <a:avLst/>
          </a:prstGeom>
          <a:solidFill>
            <a:srgbClr val="0070AD">
              <a:alpha val="30000"/>
            </a:srgbClr>
          </a:solidFill>
          <a:ln w="12700">
            <a:solidFill>
              <a:srgbClr val="0070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Functions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331720" y="3017520"/>
            <a:ext cx="1463040" cy="347472"/>
          </a:xfrm>
          <a:prstGeom prst="rect">
            <a:avLst/>
          </a:prstGeom>
          <a:solidFill>
            <a:srgbClr val="0070AD">
              <a:alpha val="30000"/>
            </a:srgbClr>
          </a:solidFill>
          <a:ln w="12700">
            <a:solidFill>
              <a:srgbClr val="0070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31720" y="30175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931920" y="3017520"/>
            <a:ext cx="1463040" cy="347472"/>
          </a:xfrm>
          <a:prstGeom prst="rect">
            <a:avLst/>
          </a:prstGeom>
          <a:solidFill>
            <a:srgbClr val="0070AD">
              <a:alpha val="30000"/>
            </a:srgbClr>
          </a:solidFill>
          <a:ln w="12700">
            <a:solidFill>
              <a:srgbClr val="0070A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1920" y="30175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532120" y="3017520"/>
            <a:ext cx="1463040" cy="347472"/>
          </a:xfrm>
          <a:prstGeom prst="rect">
            <a:avLst/>
          </a:prstGeom>
          <a:solidFill>
            <a:srgbClr val="0070AD">
              <a:alpha val="30000"/>
            </a:srgbClr>
          </a:solidFill>
          <a:ln w="12700">
            <a:solidFill>
              <a:srgbClr val="0070A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32120" y="30175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TypeScript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32320" y="3017520"/>
            <a:ext cx="1463040" cy="347472"/>
          </a:xfrm>
          <a:prstGeom prst="rect">
            <a:avLst/>
          </a:prstGeom>
          <a:solidFill>
            <a:srgbClr val="0070AD">
              <a:alpha val="30000"/>
            </a:srgbClr>
          </a:solidFill>
          <a:ln w="12700">
            <a:solidFill>
              <a:srgbClr val="0070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0" y="30175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ACI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31520" y="4480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Technical Architecture &amp; Demo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8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70A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Architecture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Azure-native, serverless, pay-per-use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7498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2618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MuleSoft Input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5361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XML Flows, RAML, DataWeave, Config ZIP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286000" y="193852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70AD"/>
                </a:solidFill>
              </a:rPr>
              <a:t>▼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402336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103120"/>
            <a:ext cx="54864" cy="749808"/>
          </a:xfrm>
          <a:prstGeom prst="rect">
            <a:avLst/>
          </a:prstGeom>
          <a:solidFill>
            <a:srgbClr val="0070AD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1762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Static Web App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24505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TypeScript + Tailwind CSS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285292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70AD"/>
                </a:solidFill>
              </a:rPr>
              <a:t>▼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017520"/>
            <a:ext cx="402336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017520"/>
            <a:ext cx="54864" cy="74980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090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Functions (Python 3.12)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33649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HTTP + Queue Triggers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Engine + LLM Agents + Validation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376732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70AD"/>
                </a:solidFill>
              </a:rPr>
              <a:t>▼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402336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931920"/>
            <a:ext cx="54864" cy="7498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Output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42793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pom.xml, Controllers, Services, Config, Docker, Swagger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46320" y="1051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Services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846320" y="1371600"/>
            <a:ext cx="192024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46320" y="1371600"/>
            <a:ext cx="1920240" cy="36576"/>
          </a:xfrm>
          <a:prstGeom prst="rect">
            <a:avLst/>
          </a:prstGeom>
          <a:solidFill>
            <a:srgbClr val="0070AD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146304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(GPT-4o)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937760" y="17373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enhancement + embeddings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903720" y="1371600"/>
            <a:ext cx="192024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903720" y="1371600"/>
            <a:ext cx="1920240" cy="36576"/>
          </a:xfrm>
          <a:prstGeom prst="rect">
            <a:avLst/>
          </a:prstGeom>
          <a:solidFill>
            <a:srgbClr val="0070AD"/>
          </a:solidFill>
          <a:ln/>
        </p:spPr>
      </p:sp>
      <p:sp>
        <p:nvSpPr>
          <p:cNvPr id="31" name="Text 29"/>
          <p:cNvSpPr/>
          <p:nvPr/>
        </p:nvSpPr>
        <p:spPr>
          <a:xfrm>
            <a:off x="6995160" y="146304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15 + pgvector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995160" y="17373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Migrations, builds, RAG search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846320" y="2212848"/>
            <a:ext cx="192024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846320" y="2212848"/>
            <a:ext cx="1920240" cy="36576"/>
          </a:xfrm>
          <a:prstGeom prst="rect">
            <a:avLst/>
          </a:prstGeom>
          <a:solidFill>
            <a:srgbClr val="0070AD"/>
          </a:solidFill>
          <a:ln/>
        </p:spPr>
      </p:sp>
      <p:sp>
        <p:nvSpPr>
          <p:cNvPr id="35" name="Text 33"/>
          <p:cNvSpPr/>
          <p:nvPr/>
        </p:nvSpPr>
        <p:spPr>
          <a:xfrm>
            <a:off x="4937760" y="230428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Cache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937760" y="25786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+ session cache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903720" y="2212848"/>
            <a:ext cx="192024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903720" y="2212848"/>
            <a:ext cx="1920240" cy="36576"/>
          </a:xfrm>
          <a:prstGeom prst="rect">
            <a:avLst/>
          </a:prstGeom>
          <a:solidFill>
            <a:srgbClr val="0070AD"/>
          </a:solidFill>
          <a:ln/>
        </p:spPr>
      </p:sp>
      <p:sp>
        <p:nvSpPr>
          <p:cNvPr id="39" name="Text 37"/>
          <p:cNvSpPr/>
          <p:nvPr/>
        </p:nvSpPr>
        <p:spPr>
          <a:xfrm>
            <a:off x="6995160" y="230428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Queue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995160" y="25786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/ build / validation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846320" y="3054096"/>
            <a:ext cx="192024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846320" y="3054096"/>
            <a:ext cx="1920240" cy="36576"/>
          </a:xfrm>
          <a:prstGeom prst="rect">
            <a:avLst/>
          </a:prstGeom>
          <a:solidFill>
            <a:srgbClr val="0070AD"/>
          </a:solidFill>
          <a:ln/>
        </p:spPr>
      </p:sp>
      <p:sp>
        <p:nvSpPr>
          <p:cNvPr id="43" name="Text 41"/>
          <p:cNvSpPr/>
          <p:nvPr/>
        </p:nvSpPr>
        <p:spPr>
          <a:xfrm>
            <a:off x="4937760" y="314553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Registry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937760" y="341985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 Tasks — Docker builds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6903720" y="3054096"/>
            <a:ext cx="192024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903720" y="3054096"/>
            <a:ext cx="1920240" cy="36576"/>
          </a:xfrm>
          <a:prstGeom prst="rect">
            <a:avLst/>
          </a:prstGeom>
          <a:solidFill>
            <a:srgbClr val="0070AD"/>
          </a:solidFill>
          <a:ln/>
        </p:spPr>
      </p:sp>
      <p:sp>
        <p:nvSpPr>
          <p:cNvPr id="47" name="Text 45"/>
          <p:cNvSpPr/>
          <p:nvPr/>
        </p:nvSpPr>
        <p:spPr>
          <a:xfrm>
            <a:off x="6995160" y="314553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Instances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995160" y="341985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+ test Spring Boot app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4846320" y="3895344"/>
            <a:ext cx="192024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4846320" y="3895344"/>
            <a:ext cx="1920240" cy="36576"/>
          </a:xfrm>
          <a:prstGeom prst="rect">
            <a:avLst/>
          </a:prstGeom>
          <a:solidFill>
            <a:srgbClr val="0070AD"/>
          </a:solidFill>
          <a:ln/>
        </p:spPr>
      </p:sp>
      <p:sp>
        <p:nvSpPr>
          <p:cNvPr id="51" name="Text 49"/>
          <p:cNvSpPr/>
          <p:nvPr/>
        </p:nvSpPr>
        <p:spPr>
          <a:xfrm>
            <a:off x="4937760" y="398678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Vault + Azure AD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937760" y="426110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Secrets, SSO, RBAC, VNet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903720" y="3895344"/>
            <a:ext cx="192024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903720" y="3895344"/>
            <a:ext cx="1920240" cy="36576"/>
          </a:xfrm>
          <a:prstGeom prst="rect">
            <a:avLst/>
          </a:prstGeom>
          <a:solidFill>
            <a:srgbClr val="0070AD"/>
          </a:solidFill>
          <a:ln/>
        </p:spPr>
      </p:sp>
      <p:sp>
        <p:nvSpPr>
          <p:cNvPr id="55" name="Text 53"/>
          <p:cNvSpPr/>
          <p:nvPr/>
        </p:nvSpPr>
        <p:spPr>
          <a:xfrm>
            <a:off x="6995160" y="398678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IaC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995160" y="426110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infrastructure provisioned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0A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Engine — 6-Stage Pipeline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static conversion: parse → convert → generate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280160"/>
            <a:ext cx="1298448" cy="1920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280160"/>
            <a:ext cx="1298448" cy="45720"/>
          </a:xfrm>
          <a:prstGeom prst="rect">
            <a:avLst/>
          </a:prstGeom>
          <a:solidFill>
            <a:srgbClr val="0070AD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417320"/>
            <a:ext cx="365760" cy="365760"/>
          </a:xfrm>
          <a:prstGeom prst="ellipse">
            <a:avLst/>
          </a:prstGeom>
          <a:solidFill>
            <a:srgbClr val="0070AD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93192" y="1828800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XML Parser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93192" y="214884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MuleSoft XML</a:t>
            </a:r>
            <a:endParaRPr lang="en-US" sz="8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flows, configs,</a:t>
            </a:r>
            <a:endParaRPr lang="en-US" sz="8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connectors, batch jobs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93192" y="285292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parser.py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618488" y="205740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70AD"/>
                </a:solidFill>
              </a:rPr>
              <a:t>▶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764792" y="1280160"/>
            <a:ext cx="1298448" cy="1920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764792" y="1280160"/>
            <a:ext cx="1298448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5" name="Shape 13"/>
          <p:cNvSpPr/>
          <p:nvPr/>
        </p:nvSpPr>
        <p:spPr>
          <a:xfrm>
            <a:off x="2221992" y="1417320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6" name="Text 14"/>
          <p:cNvSpPr/>
          <p:nvPr/>
        </p:nvSpPr>
        <p:spPr>
          <a:xfrm>
            <a:off x="2221992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837944" y="1828800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Converter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837944" y="214884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flows to Spring</a:t>
            </a:r>
            <a:endParaRPr lang="en-US" sz="8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 + Services</a:t>
            </a:r>
            <a:endParaRPr lang="en-US" sz="8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 connector handlers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837944" y="285292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flow_converter.py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063240" y="205740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70AD"/>
                </a:solidFill>
              </a:rPr>
              <a:t>▶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9544" y="1280160"/>
            <a:ext cx="1298448" cy="1920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9544" y="1280160"/>
            <a:ext cx="1298448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3" name="Shape 21"/>
          <p:cNvSpPr/>
          <p:nvPr/>
        </p:nvSpPr>
        <p:spPr>
          <a:xfrm>
            <a:off x="3666744" y="1417320"/>
            <a:ext cx="365760" cy="36576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3666744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282696" y="1828800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Mapper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282696" y="214884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 dependencies</a:t>
            </a:r>
            <a:endParaRPr lang="en-US" sz="8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starters</a:t>
            </a:r>
            <a:endParaRPr lang="en-US" sz="8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mappings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282696" y="285292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connector_mapper.py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507992" y="205740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70AD"/>
                </a:solidFill>
              </a:rPr>
              <a:t>▶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54296" y="1280160"/>
            <a:ext cx="1298448" cy="1920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54296" y="1280160"/>
            <a:ext cx="1298448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1" name="Shape 29"/>
          <p:cNvSpPr/>
          <p:nvPr/>
        </p:nvSpPr>
        <p:spPr>
          <a:xfrm>
            <a:off x="5111496" y="1417320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2" name="Text 30"/>
          <p:cNvSpPr/>
          <p:nvPr/>
        </p:nvSpPr>
        <p:spPr>
          <a:xfrm>
            <a:off x="5111496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727448" y="1828800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DataWeave Convert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727448" y="214884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DWL → Java code</a:t>
            </a:r>
            <a:endParaRPr lang="en-US" sz="8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expressions</a:t>
            </a:r>
            <a:endParaRPr lang="en-US" sz="8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mappings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727448" y="285292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dataweave_converter.py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952744" y="205740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70AD"/>
                </a:solidFill>
              </a:rPr>
              <a:t>▶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099048" y="1280160"/>
            <a:ext cx="1298448" cy="1920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099048" y="1280160"/>
            <a:ext cx="1298448" cy="457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9" name="Shape 37"/>
          <p:cNvSpPr/>
          <p:nvPr/>
        </p:nvSpPr>
        <p:spPr>
          <a:xfrm>
            <a:off x="6556248" y="1417320"/>
            <a:ext cx="365760" cy="36576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40" name="Text 38"/>
          <p:cNvSpPr/>
          <p:nvPr/>
        </p:nvSpPr>
        <p:spPr>
          <a:xfrm>
            <a:off x="6556248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6172200" y="1828800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Generator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172200" y="214884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project scaffold</a:t>
            </a:r>
            <a:endParaRPr lang="en-US" sz="8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pom.xml, Docker, configs</a:t>
            </a:r>
            <a:endParaRPr lang="en-US" sz="8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Multi-profile support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172200" y="285292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spring_generator.py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7397496" y="205740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70AD"/>
                </a:solidFill>
              </a:rPr>
              <a:t>▶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543800" y="1280160"/>
            <a:ext cx="1298448" cy="1920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7543800" y="1280160"/>
            <a:ext cx="1298448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7" name="Shape 45"/>
          <p:cNvSpPr/>
          <p:nvPr/>
        </p:nvSpPr>
        <p:spPr>
          <a:xfrm>
            <a:off x="8001000" y="1417320"/>
            <a:ext cx="365760" cy="36576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48" name="Text 46"/>
          <p:cNvSpPr/>
          <p:nvPr/>
        </p:nvSpPr>
        <p:spPr>
          <a:xfrm>
            <a:off x="8001000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7616952" y="1828800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Gen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616952" y="214884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3.0 spec</a:t>
            </a:r>
            <a:endParaRPr lang="en-US" sz="8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documentation</a:t>
            </a:r>
            <a:endParaRPr lang="en-US" sz="8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Request/Response schemas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616952" y="285292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swagger_generator.py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320040" y="3429000"/>
            <a:ext cx="8503920" cy="1005840"/>
          </a:xfrm>
          <a:prstGeom prst="rect">
            <a:avLst/>
          </a:prstGeom>
          <a:solidFill>
            <a:srgbClr val="0F172A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457200" y="35204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engine.py — Pipeline Orchestration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parsed = parser.parse(xml_content)               # Stage 1: Parse XML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converter = FlowConverter(dw_converter, mapper)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converter.convert(parsed, {})            # Stage 2-4: Convert flows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generator = SpringBootGenerator(group_id, artifact_id, java_version)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 = generator.generate(spring_files, ...)     # Stage 5-6: Generate project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70A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Enhancement Layer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for unknown connectors + RAG knowledge base + auto-fix validation pipeline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Agent — Unknown Element Handler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4023360" cy="1417320"/>
          </a:xfrm>
          <a:prstGeom prst="rect">
            <a:avLst/>
          </a:prstGeom>
          <a:solidFill>
            <a:srgbClr val="0F172A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17320"/>
            <a:ext cx="3749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llm_agent.py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convert_unknown_element(agent_ctx, tag, xml):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prompt = f"Convert this MuleSoft XML"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f" to Spring Boot Java:\n{xml}"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_call_llm(agent_ctx,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ELEMENT_SYSTEM_PROMPT, prompt)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code = _extract_code_block(response)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agent_ctx.record_conversion(tag, code)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code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754880" y="105156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Pipeline — Post-LLM Safety Net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325880"/>
            <a:ext cx="4023360" cy="1600200"/>
          </a:xfrm>
          <a:prstGeom prst="rect">
            <a:avLst/>
          </a:prstGeom>
          <a:solidFill>
            <a:srgbClr val="0F172A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92040" y="1417320"/>
            <a:ext cx="3749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validation_service.py — Auto-Fix Pipeline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patched = _patch_java_sources(files)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→ 126 annotation imports auto-added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patched = _patch_java_compilation_errors(patched)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→ Map.of() overflow → Map.ofEntries()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→ Method name/arg mismatches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patched = _patch_datasource_consistency(patched)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→ Bean name reconciliation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→ @ConfigurationProperties prefix fix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patched["pom.xml"] = _patch_pom_xml(pom)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patched = _patch_application_properties(patched)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57200" y="3108960"/>
            <a:ext cx="8321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108960"/>
            <a:ext cx="54864" cy="5943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1546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Knowledge Base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926080" y="315468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 over migration patterns using PostgreSQL pgvector (3072-dim embeddings via text-embedding-3-large). Provides context-aware suggestions to the LLM for complex connector conversions.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931920"/>
            <a:ext cx="14630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931920"/>
            <a:ext cx="1463040" cy="45720"/>
          </a:xfrm>
          <a:prstGeom prst="rect">
            <a:avLst/>
          </a:prstGeom>
          <a:solidFill>
            <a:srgbClr val="0070AD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40233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57200" y="43891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Auto-Imports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148840" y="3931920"/>
            <a:ext cx="14630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148840" y="3931920"/>
            <a:ext cx="1463040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1" name="Text 19"/>
          <p:cNvSpPr/>
          <p:nvPr/>
        </p:nvSpPr>
        <p:spPr>
          <a:xfrm>
            <a:off x="2148840" y="40233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2148840" y="43891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840480" y="3931920"/>
            <a:ext cx="14630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840480" y="3931920"/>
            <a:ext cx="146304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5" name="Text 23"/>
          <p:cNvSpPr/>
          <p:nvPr/>
        </p:nvSpPr>
        <p:spPr>
          <a:xfrm>
            <a:off x="3840480" y="40233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3840480" y="43891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Model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532120" y="3931920"/>
            <a:ext cx="14630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532120" y="3931920"/>
            <a:ext cx="1463040" cy="457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9" name="Text 27"/>
          <p:cNvSpPr/>
          <p:nvPr/>
        </p:nvSpPr>
        <p:spPr>
          <a:xfrm>
            <a:off x="5532120" y="40233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3072d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5532120" y="43891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223760" y="3931920"/>
            <a:ext cx="14630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223760" y="3931920"/>
            <a:ext cx="146304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3" name="Text 31"/>
          <p:cNvSpPr/>
          <p:nvPr/>
        </p:nvSpPr>
        <p:spPr>
          <a:xfrm>
            <a:off x="7223760" y="40233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24/24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7223760" y="43891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Bean Match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0A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Walkthrough — Step-by-Step User Flow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MuleSoft upload to production-ready Spring Boot in minutes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4069080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43000"/>
            <a:ext cx="54864" cy="1143000"/>
          </a:xfrm>
          <a:prstGeom prst="rect">
            <a:avLst/>
          </a:prstGeom>
          <a:solidFill>
            <a:srgbClr val="0070AD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252728"/>
            <a:ext cx="320040" cy="320040"/>
          </a:xfrm>
          <a:prstGeom prst="ellipse">
            <a:avLst/>
          </a:prstGeom>
          <a:solidFill>
            <a:srgbClr val="0070A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527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12344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&amp; Dashboard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1527048"/>
            <a:ext cx="33832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to portal URL → Azure AD SSO auto-login.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shows: total migrations, success rate,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activity, and quick-start buttons.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754880" y="1143000"/>
            <a:ext cx="4069080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1143000"/>
            <a:ext cx="54864" cy="11430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3" name="Shape 11"/>
          <p:cNvSpPr/>
          <p:nvPr/>
        </p:nvSpPr>
        <p:spPr>
          <a:xfrm>
            <a:off x="4892040" y="1252728"/>
            <a:ext cx="320040" cy="32004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4" name="Text 12"/>
          <p:cNvSpPr/>
          <p:nvPr/>
        </p:nvSpPr>
        <p:spPr>
          <a:xfrm>
            <a:off x="4892040" y="12527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03520" y="12344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MuleSoft Project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303520" y="1527048"/>
            <a:ext cx="33832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"Migrate" → Drag &amp; drop project folder or paste XML.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Supports: .xml, .raml, .dwl, .yaml, .properties, .wsdl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Configure: name, Mule version, group/artifact ID.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514600"/>
            <a:ext cx="4069080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514600"/>
            <a:ext cx="54864" cy="1143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9" name="Shape 17"/>
          <p:cNvSpPr/>
          <p:nvPr/>
        </p:nvSpPr>
        <p:spPr>
          <a:xfrm>
            <a:off x="457200" y="2624328"/>
            <a:ext cx="320040" cy="3200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243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8680" y="26060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&amp; Start Migration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68680" y="2898648"/>
            <a:ext cx="33832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AI Enhancement ON/OFF → Select AI provider.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Enable: Generate tests, Swagger, Documentation.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"Start Migration" → Watch Agent Live Feed.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754880" y="2514600"/>
            <a:ext cx="4069080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54880" y="2514600"/>
            <a:ext cx="54864" cy="1143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5" name="Shape 23"/>
          <p:cNvSpPr/>
          <p:nvPr/>
        </p:nvSpPr>
        <p:spPr>
          <a:xfrm>
            <a:off x="4892040" y="2624328"/>
            <a:ext cx="320040" cy="3200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6" name="Text 24"/>
          <p:cNvSpPr/>
          <p:nvPr/>
        </p:nvSpPr>
        <p:spPr>
          <a:xfrm>
            <a:off x="4892040" y="26243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03520" y="26060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Generated Code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03520" y="2898648"/>
            <a:ext cx="33832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tree shows all generated files with syntax highlighting.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any file inline → Save Changes.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ZIP, view Swagger, push to GitHub, or validate.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20040" y="3840480"/>
            <a:ext cx="406908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0040" y="3840480"/>
            <a:ext cx="54864" cy="10515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1" name="Shape 29"/>
          <p:cNvSpPr/>
          <p:nvPr/>
        </p:nvSpPr>
        <p:spPr>
          <a:xfrm>
            <a:off x="457200" y="3950208"/>
            <a:ext cx="320040" cy="3200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9502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68680" y="39319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&amp; Validate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68680" y="4224528"/>
            <a:ext cx="33832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"Test &amp; Validate" → Auto builds Docker image →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Deploys to ACI → Health check → API comparison.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Verdict: PASS / PARTIAL / FAIL with container logs.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754880" y="3840480"/>
            <a:ext cx="406908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754880" y="3840480"/>
            <a:ext cx="54864" cy="10515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2040" y="3950208"/>
            <a:ext cx="320040" cy="3200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38" name="Text 36"/>
          <p:cNvSpPr/>
          <p:nvPr/>
        </p:nvSpPr>
        <p:spPr>
          <a:xfrm>
            <a:off x="4892040" y="39502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303520" y="39319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to GitHub &amp; Deploy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303520" y="4224528"/>
            <a:ext cx="33832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"Push to GitHub" → Enter repo name, branch.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new or push to existing repository.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direct link to GitHub repo → CI/CD ready.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70A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Screens — Detailed Technical Flow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pages, data flow, and what happens behind each click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411480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097280"/>
            <a:ext cx="4114800" cy="36576"/>
          </a:xfrm>
          <a:prstGeom prst="rect">
            <a:avLst/>
          </a:prstGeom>
          <a:solidFill>
            <a:srgbClr val="0070AD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1887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Page — Behind the Scenes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618488"/>
            <a:ext cx="164592" cy="164592"/>
          </a:xfrm>
          <a:prstGeom prst="ellipse">
            <a:avLst/>
          </a:prstGeom>
          <a:solidFill>
            <a:srgbClr val="0070A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5544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828800" y="15544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sent to POST /v2/migrations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multipart/form-data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30936" y="1783080"/>
            <a:ext cx="0" cy="27432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121408"/>
            <a:ext cx="164592" cy="164592"/>
          </a:xfrm>
          <a:prstGeom prst="ellipse">
            <a:avLst/>
          </a:prstGeom>
          <a:solidFill>
            <a:srgbClr val="0070AD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0574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828800" y="2057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trigger fires → parser.py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flows &amp; connectors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30936" y="2286000"/>
            <a:ext cx="0" cy="27432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624328"/>
            <a:ext cx="164592" cy="164592"/>
          </a:xfrm>
          <a:prstGeom prst="ellipse">
            <a:avLst/>
          </a:prstGeom>
          <a:solidFill>
            <a:srgbClr val="0070AD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25603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828800" y="25603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flow_converter.py maps 40+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MuleSoft processors to Java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30936" y="2788920"/>
            <a:ext cx="0" cy="27432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127248"/>
            <a:ext cx="164592" cy="164592"/>
          </a:xfrm>
          <a:prstGeom prst="ellipse">
            <a:avLst/>
          </a:prstGeom>
          <a:solidFill>
            <a:srgbClr val="0070AD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3063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Enhance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828800" y="30632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reviews generated code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unknown connectors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30936" y="3291840"/>
            <a:ext cx="0" cy="27432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630168"/>
            <a:ext cx="164592" cy="164592"/>
          </a:xfrm>
          <a:prstGeom prst="ellipse">
            <a:avLst/>
          </a:prstGeom>
          <a:solidFill>
            <a:srgbClr val="0070AD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3566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828800" y="35661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spring_generator.py creates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project structure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30936" y="3794760"/>
            <a:ext cx="0" cy="27432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133088"/>
            <a:ext cx="164592" cy="164592"/>
          </a:xfrm>
          <a:prstGeom prst="ellipse">
            <a:avLst/>
          </a:prstGeom>
          <a:solidFill>
            <a:srgbClr val="0070AD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828800" y="40690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stored in DB, ZIP ready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download via portal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663440" y="1097280"/>
            <a:ext cx="411480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663440" y="1097280"/>
            <a:ext cx="411480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3" name="Text 31"/>
          <p:cNvSpPr/>
          <p:nvPr/>
        </p:nvSpPr>
        <p:spPr>
          <a:xfrm>
            <a:off x="4800600" y="11887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Page — Build &amp; Deploy Flow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46320" y="1618488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5" name="Text 33"/>
          <p:cNvSpPr/>
          <p:nvPr/>
        </p:nvSpPr>
        <p:spPr>
          <a:xfrm>
            <a:off x="5120640" y="15544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26480" y="15544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"Test &amp; Validate" button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/v2/builds/{id}/start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928616" y="1783080"/>
            <a:ext cx="0" cy="27432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846320" y="2121408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9" name="Text 37"/>
          <p:cNvSpPr/>
          <p:nvPr/>
        </p:nvSpPr>
        <p:spPr>
          <a:xfrm>
            <a:off x="5120640" y="20574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Auto-Patch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126480" y="2057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passes: imports, Map.of(), bean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names, POM, properties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928616" y="2286000"/>
            <a:ext cx="0" cy="27432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46320" y="2624328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43" name="Text 41"/>
          <p:cNvSpPr/>
          <p:nvPr/>
        </p:nvSpPr>
        <p:spPr>
          <a:xfrm>
            <a:off x="5120640" y="25603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Build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126480" y="25603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→ Azure Blob → ACR Tasks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Multi-stage Maven → JRE image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28616" y="2788920"/>
            <a:ext cx="0" cy="27432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46320" y="3127248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47" name="Text 45"/>
          <p:cNvSpPr/>
          <p:nvPr/>
        </p:nvSpPr>
        <p:spPr>
          <a:xfrm>
            <a:off x="5120640" y="3063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ACI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126480" y="30632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→ Azure Container Instances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CPU, 2GB RAM, public FQDN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4928616" y="3291840"/>
            <a:ext cx="0" cy="27432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846320" y="3630168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51" name="Text 49"/>
          <p:cNvSpPr/>
          <p:nvPr/>
        </p:nvSpPr>
        <p:spPr>
          <a:xfrm>
            <a:off x="5120640" y="3566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Check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126480" y="35661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 /actuator/health every 5s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120s, then proceed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928616" y="3794760"/>
            <a:ext cx="0" cy="27432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846320" y="4133088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55" name="Text 53"/>
          <p:cNvSpPr/>
          <p:nvPr/>
        </p:nvSpPr>
        <p:spPr>
          <a:xfrm>
            <a:off x="5120640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126480" y="40690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comparison: MuleSoft vs Spring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/ PARTIAL / FAIL + logs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365760" y="46634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Replace dot markers above with portal screenshots for client presentation ]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0A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— MuleSoft Input vs Spring Boot Output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Side-by-side: what goes in and what comes out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20040" y="10515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MuleSoft XML Input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0040" y="1325880"/>
            <a:ext cx="4114800" cy="3063240"/>
          </a:xfrm>
          <a:prstGeom prst="rect">
            <a:avLst/>
          </a:prstGeom>
          <a:solidFill>
            <a:srgbClr val="0F172A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417320"/>
            <a:ext cx="38404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&lt;flow name="get-policies-flow"&gt;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&lt;http:listener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config-ref="api-httpListenerConfig"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path="/api/v1/policies" method="GET"/&gt;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&lt;db:select config-ref="claims-db-config"&gt;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&lt;db:sql&gt;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SELECT policy_id, holder_name,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type, premium, status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FROM policies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&lt;/db:sql&gt;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&lt;/db:select&gt;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&lt;ee:transform&gt;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&lt;ee:set-payload&gt;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%dw 2.0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output application/json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--- payload map {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policyId: $.policy_id,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holder: $.holder_name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&lt;/ee:set-payload&gt;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&lt;/ee:transform&gt;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&lt;/flow&gt;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389120" y="25603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70AD"/>
                </a:solidFill>
              </a:rPr>
              <a:t>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709160" y="10515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Spring Boot Controller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325880"/>
            <a:ext cx="4114800" cy="3520440"/>
          </a:xfrm>
          <a:prstGeom prst="rect">
            <a:avLst/>
          </a:prstGeom>
          <a:solidFill>
            <a:srgbClr val="0F172A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46320" y="1417320"/>
            <a:ext cx="38404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@RestController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@RequestMapping("/api/v1")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GetPoliciesController {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@Autowired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@Qualifier("claimsDbConfigJdbcTemplate")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private JdbcTemplate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claimsDbConfigJdbcTemplate;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@GetMapping("/policies")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ResponseEntity&lt;?&gt;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getPolicies() {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List&lt;Map&lt;String, Object&gt;&gt; result =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claimsDbConfigJdbcTemplate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.queryForList(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"SELECT policy_id, holder_name,"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+ " type, premium, status"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+ " FROM policies");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List&lt;Map&lt;String, Object&gt;&gt; mapped =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result.stream().map(row -&gt;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Map.of("policyId",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row.get("policy_id"),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"holder",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row.get("holder_name"))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).collect(Collectors.toList());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ResponseEntity.ok(mapped);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70A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Frequently Asked Questions &amp; 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questions from clients and stakeholders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411480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143000"/>
            <a:ext cx="45720" cy="621792"/>
          </a:xfrm>
          <a:prstGeom prst="rect">
            <a:avLst/>
          </a:prstGeom>
          <a:solidFill>
            <a:srgbClr val="0070AD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18872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What MuleSoft versions are supported?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02920" y="14356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MuleSoft 3.x and 4.x. Mule 4 is primary.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65760" y="1856232"/>
            <a:ext cx="411480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1856232"/>
            <a:ext cx="45720" cy="621792"/>
          </a:xfrm>
          <a:prstGeom prst="rect">
            <a:avLst/>
          </a:prstGeom>
          <a:solidFill>
            <a:srgbClr val="0070AD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90195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What if the LLM breaks generated code?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02920" y="21488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5-pass validation pipeline auto-fixes: imports, Map.of() overflow, bean names, POM, properties.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65760" y="2569464"/>
            <a:ext cx="411480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2569464"/>
            <a:ext cx="45720" cy="621792"/>
          </a:xfrm>
          <a:prstGeom prst="rect">
            <a:avLst/>
          </a:prstGeom>
          <a:solidFill>
            <a:srgbClr val="0070AD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615184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What databases are supported?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02920" y="28620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MySQL, PostgreSQL, SQL Server, Oracle. Multi-datasource with @Primary/@Qualifier.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65760" y="3282696"/>
            <a:ext cx="411480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3282696"/>
            <a:ext cx="45720" cy="621792"/>
          </a:xfrm>
          <a:prstGeom prst="rect">
            <a:avLst/>
          </a:prstGeom>
          <a:solidFill>
            <a:srgbClr val="0070AD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3328416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How are unknown connectors handled?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02920" y="35753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generates Spring Boot equivalent on-the-fly. RAG provides migration patterns.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65760" y="3995928"/>
            <a:ext cx="411480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995928"/>
            <a:ext cx="45720" cy="621792"/>
          </a:xfrm>
          <a:prstGeom prst="rect">
            <a:avLst/>
          </a:prstGeom>
          <a:solidFill>
            <a:srgbClr val="0070AD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404164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What about DataWeave transforms?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02920" y="42885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DWL 2.0 → Java Stream operations. map, filter, reduce, pluck, flatten supported.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663440" y="1143000"/>
            <a:ext cx="411480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63440" y="1143000"/>
            <a:ext cx="45720" cy="62179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7" name="Text 25"/>
          <p:cNvSpPr/>
          <p:nvPr/>
        </p:nvSpPr>
        <p:spPr>
          <a:xfrm>
            <a:off x="4800600" y="118872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Can we run this on-premise?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800600" y="14356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Azure-native. Architecture is modular for future portability.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663440" y="1856232"/>
            <a:ext cx="411480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1856232"/>
            <a:ext cx="45720" cy="62179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1" name="Text 29"/>
          <p:cNvSpPr/>
          <p:nvPr/>
        </p:nvSpPr>
        <p:spPr>
          <a:xfrm>
            <a:off x="4800600" y="190195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What's the success rate?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800600" y="21488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APIs: ~95% auto-conversion. Complex multi-DB: ~70-80% with LLM + validation.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663440" y="2569464"/>
            <a:ext cx="411480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663440" y="2569464"/>
            <a:ext cx="45720" cy="62179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5" name="Text 33"/>
          <p:cNvSpPr/>
          <p:nvPr/>
        </p:nvSpPr>
        <p:spPr>
          <a:xfrm>
            <a:off x="4800600" y="2615184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How does it handle custom Java?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800600" y="28620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Preserved as-is. LLM reviews for Spring Boot compatibility.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663440" y="3282696"/>
            <a:ext cx="411480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663440" y="3282696"/>
            <a:ext cx="45720" cy="62179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9" name="Text 37"/>
          <p:cNvSpPr/>
          <p:nvPr/>
        </p:nvSpPr>
        <p:spPr>
          <a:xfrm>
            <a:off x="4800600" y="3328416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What about RAML / API specs?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800600" y="35753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to OpenAPI 3.0 Swagger specification.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663440" y="3995928"/>
            <a:ext cx="411480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663440" y="3995928"/>
            <a:ext cx="45720" cy="62179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3" name="Text 41"/>
          <p:cNvSpPr/>
          <p:nvPr/>
        </p:nvSpPr>
        <p:spPr>
          <a:xfrm>
            <a:off x="4800600" y="404164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What's the cost per migration?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800600" y="42885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pay-per-use. Typical migration &lt; $1 in compute. GPT-4o tokens ~$0.50.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365760" y="4663440"/>
            <a:ext cx="2011680" cy="365760"/>
          </a:xfrm>
          <a:prstGeom prst="rect">
            <a:avLst/>
          </a:prstGeom>
          <a:solidFill>
            <a:srgbClr val="0070AD">
              <a:alpha val="15000"/>
            </a:srgbClr>
          </a:solidFill>
          <a:ln w="12700">
            <a:solidFill>
              <a:srgbClr val="0070A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6634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end-to-end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560320" y="4663440"/>
            <a:ext cx="2011680" cy="365760"/>
          </a:xfrm>
          <a:prstGeom prst="rect">
            <a:avLst/>
          </a:prstGeom>
          <a:solidFill>
            <a:srgbClr val="0891B2">
              <a:alpha val="15000"/>
            </a:srgb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60320" y="46634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(GPT-4o + RAG)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754880" y="4663440"/>
            <a:ext cx="2011680" cy="365760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54880" y="46634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Self-validating pipeline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949440" y="4663440"/>
            <a:ext cx="2011680" cy="365760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949440" y="46634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Enterprise-grade security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MuleSoft-to-Spring Boot Migrator — Technical Deep-Dive</dc:title>
  <dc:subject>PptxGenJS Presentation</dc:subject>
  <dc:creator>Harinadh</dc:creator>
  <cp:lastModifiedBy>Harinadh</cp:lastModifiedBy>
  <cp:revision>1</cp:revision>
  <dcterms:created xsi:type="dcterms:W3CDTF">2026-04-15T10:12:24Z</dcterms:created>
  <dcterms:modified xsi:type="dcterms:W3CDTF">2026-04-15T10:12:24Z</dcterms:modified>
</cp:coreProperties>
</file>