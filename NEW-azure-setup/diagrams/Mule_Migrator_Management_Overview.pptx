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54864" cy="256032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828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Mule Migrator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188720" y="2788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Application Modernization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MuleSoft to Spring Boot Migration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40233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1A2940"/>
          </a:solidFill>
          <a:ln w="6350">
            <a:solidFill>
              <a:srgbClr val="2D3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0" y="13716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41F33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182880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A294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19659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14400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88952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6309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320040" cy="36576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migration is slow, expensive, and error-prone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329184" cy="329184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migration takes 2–4 weeks per application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329184" cy="329184"/>
          </a:xfrm>
          <a:prstGeom prst="ellipse">
            <a:avLst/>
          </a:prstGeom>
          <a:solidFill>
            <a:srgbClr val="D1343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40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194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specialized MuleSoft + Spring Boot expertise (scarce talent)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743200"/>
            <a:ext cx="329184" cy="329184"/>
          </a:xfrm>
          <a:prstGeom prst="ellipse">
            <a:avLst/>
          </a:prstGeom>
          <a:solidFill>
            <a:srgbClr val="D1343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697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Error-prone: manual code translation leads to bugs and rework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246120"/>
            <a:ext cx="329184" cy="329184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46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$10,000–$50,000 per application migration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10881360" cy="9144"/>
          </a:xfrm>
          <a:prstGeom prst="rect">
            <a:avLst/>
          </a:prstGeom>
          <a:solidFill>
            <a:srgbClr val="D2D0CE"/>
          </a:solidFill>
          <a:ln/>
        </p:spPr>
      </p:sp>
      <p:sp>
        <p:nvSpPr>
          <p:cNvPr id="19" name="Shape 17"/>
          <p:cNvSpPr/>
          <p:nvPr/>
        </p:nvSpPr>
        <p:spPr>
          <a:xfrm>
            <a:off x="928116" y="429768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65276" y="4434840"/>
            <a:ext cx="2834640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" y="4617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28116" y="5349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Migration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39996" y="429768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77156" y="4434840"/>
            <a:ext cx="2834640" cy="45720"/>
          </a:xfrm>
          <a:prstGeom prst="rect">
            <a:avLst/>
          </a:prstGeom>
          <a:solidFill>
            <a:srgbClr val="D13438"/>
          </a:solidFill>
          <a:ln/>
        </p:spPr>
      </p:sp>
      <p:sp>
        <p:nvSpPr>
          <p:cNvPr id="25" name="Text 23"/>
          <p:cNvSpPr/>
          <p:nvPr/>
        </p:nvSpPr>
        <p:spPr>
          <a:xfrm>
            <a:off x="4539996" y="4617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$10K–$50K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539996" y="5349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51876" y="4297680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89036" y="4434840"/>
            <a:ext cx="2834640" cy="45720"/>
          </a:xfrm>
          <a:prstGeom prst="rect">
            <a:avLst/>
          </a:prstGeom>
          <a:solidFill>
            <a:srgbClr val="D13438"/>
          </a:solidFill>
          <a:ln/>
        </p:spPr>
      </p:sp>
      <p:sp>
        <p:nvSpPr>
          <p:cNvPr id="29" name="Text 27"/>
          <p:cNvSpPr/>
          <p:nvPr/>
        </p:nvSpPr>
        <p:spPr>
          <a:xfrm>
            <a:off x="8151876" y="4617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8151876" y="5349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Migration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88952" cy="73152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320040" cy="36576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automated migration — transforming weeks of work into minutes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9496" y="173736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1847088"/>
            <a:ext cx="2249424" cy="1371600"/>
          </a:xfrm>
          <a:prstGeom prst="roundRect">
            <a:avLst>
              <a:gd name="adj" fmla="val 4000"/>
            </a:avLst>
          </a:prstGeom>
          <a:solidFill>
            <a:srgbClr val="E8F4FD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9496" y="2395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" y="2651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Faster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" y="33375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weeks.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migrations in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session.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9856" y="173736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9584" y="1847088"/>
            <a:ext cx="2249424" cy="13716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419856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✔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19856" y="2395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19856" y="2651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02736" y="33375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Compilable output.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AI-reviewed code with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best practices.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0216" y="173736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9944" y="1847088"/>
            <a:ext cx="2249424" cy="137160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0216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💲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00216" y="2395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0216" y="2651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83096" y="33375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migration.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cost reduction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manual approach.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80576" y="173736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90304" y="1847088"/>
            <a:ext cx="2249424" cy="1371600"/>
          </a:xfrm>
          <a:prstGeom prst="roundRect">
            <a:avLst>
              <a:gd name="adj" fmla="val 4000"/>
            </a:avLst>
          </a:prstGeom>
          <a:solidFill>
            <a:srgbClr val="EDE7F6"/>
          </a:solidFill>
          <a:ln/>
        </p:spPr>
      </p:sp>
      <p:sp>
        <p:nvSpPr>
          <p:cNvPr id="26" name="Text 24"/>
          <p:cNvSpPr/>
          <p:nvPr/>
        </p:nvSpPr>
        <p:spPr>
          <a:xfrm>
            <a:off x="9180576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180576" y="2395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80576" y="2651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63456" y="33375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patterns in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growing.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88952" cy="73152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320040" cy="36576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4-step process from legacy code to modern application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75004" y="2167128"/>
            <a:ext cx="1335024" cy="133502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48156" y="2240280"/>
            <a:ext cx="1188720" cy="11887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1248156" y="2240280"/>
            <a:ext cx="1188720" cy="7726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162556" y="2148840"/>
            <a:ext cx="365760" cy="36576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0" name="Text 8"/>
          <p:cNvSpPr/>
          <p:nvPr/>
        </p:nvSpPr>
        <p:spPr>
          <a:xfrm>
            <a:off x="216255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5236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5236" y="4160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MuleSoft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files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85516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009644" y="2167128"/>
            <a:ext cx="1335024" cy="133502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6B69D6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82796" y="2240280"/>
            <a:ext cx="1188720" cy="1188720"/>
          </a:xfrm>
          <a:prstGeom prst="ellipse">
            <a:avLst/>
          </a:prstGeom>
          <a:solidFill>
            <a:srgbClr val="6B69D6"/>
          </a:solidFill>
          <a:ln/>
        </p:spPr>
      </p:sp>
      <p:sp>
        <p:nvSpPr>
          <p:cNvPr id="16" name="Text 14"/>
          <p:cNvSpPr/>
          <p:nvPr/>
        </p:nvSpPr>
        <p:spPr>
          <a:xfrm>
            <a:off x="4082796" y="2240280"/>
            <a:ext cx="1188720" cy="7726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997196" y="2148840"/>
            <a:ext cx="365760" cy="36576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8" name="Text 16"/>
          <p:cNvSpPr/>
          <p:nvPr/>
        </p:nvSpPr>
        <p:spPr>
          <a:xfrm>
            <a:off x="499719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79876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79876" y="4160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analyze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generate code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20156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844284" y="2167128"/>
            <a:ext cx="1335024" cy="133502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07C1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17436" y="2240280"/>
            <a:ext cx="1188720" cy="1188720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24" name="Text 22"/>
          <p:cNvSpPr/>
          <p:nvPr/>
        </p:nvSpPr>
        <p:spPr>
          <a:xfrm>
            <a:off x="6917436" y="2240280"/>
            <a:ext cx="1188720" cy="7726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7831836" y="2148840"/>
            <a:ext cx="365760" cy="36576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26" name="Text 24"/>
          <p:cNvSpPr/>
          <p:nvPr/>
        </p:nvSpPr>
        <p:spPr>
          <a:xfrm>
            <a:off x="783183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14516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14516" y="4160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edit code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54796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9678924" y="2167128"/>
            <a:ext cx="1335024" cy="133502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752076" y="2240280"/>
            <a:ext cx="1188720" cy="118872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32" name="Text 30"/>
          <p:cNvSpPr/>
          <p:nvPr/>
        </p:nvSpPr>
        <p:spPr>
          <a:xfrm>
            <a:off x="9752076" y="2240280"/>
            <a:ext cx="1188720" cy="7726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10666476" y="2148840"/>
            <a:ext cx="365760" cy="365760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34" name="Text 32"/>
          <p:cNvSpPr/>
          <p:nvPr/>
        </p:nvSpPr>
        <p:spPr>
          <a:xfrm>
            <a:off x="1066647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49156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249156" y="4160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0" y="5212080"/>
            <a:ext cx="7616952" cy="640080"/>
          </a:xfrm>
          <a:prstGeom prst="roundRect">
            <a:avLst>
              <a:gd name="adj" fmla="val 11429"/>
            </a:avLst>
          </a:prstGeom>
          <a:solidFill>
            <a:srgbClr val="0F1B2D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286000" y="5212080"/>
            <a:ext cx="7616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Average migration time: 5 minutes  |  Fully automated  |  No coding required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88952" cy="73152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320040" cy="36576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Technology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Azure OpenAI GPT-4.1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doesn't just generate code — it retrieves proven migration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from a curated knowledge base of 203 documents, ensuring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accurate, battle-tested output every time.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783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Migration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41248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3,972 tokens average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migration request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 Agents Working Together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0956" y="384048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73836" y="3977640"/>
            <a:ext cx="2011680" cy="457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6" name="Text 14"/>
          <p:cNvSpPr/>
          <p:nvPr/>
        </p:nvSpPr>
        <p:spPr>
          <a:xfrm>
            <a:off x="790956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90956" y="4663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8116" y="5029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input and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migration strategy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86684" y="438912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534156" y="384048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17036" y="3977640"/>
            <a:ext cx="2011680" cy="45720"/>
          </a:xfrm>
          <a:prstGeom prst="rect">
            <a:avLst/>
          </a:prstGeom>
          <a:solidFill>
            <a:srgbClr val="6B69D6"/>
          </a:solidFill>
          <a:ln/>
        </p:spPr>
      </p:sp>
      <p:sp>
        <p:nvSpPr>
          <p:cNvPr id="22" name="Text 20"/>
          <p:cNvSpPr/>
          <p:nvPr/>
        </p:nvSpPr>
        <p:spPr>
          <a:xfrm>
            <a:off x="3534156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534156" y="4663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Agent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71316" y="5029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patterns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RAG database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29884" y="438912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77356" y="384048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60236" y="3977640"/>
            <a:ext cx="2011680" cy="4572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28" name="Text 26"/>
          <p:cNvSpPr/>
          <p:nvPr/>
        </p:nvSpPr>
        <p:spPr>
          <a:xfrm>
            <a:off x="6277356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277356" y="4663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Agent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14516" y="5029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workflow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73084" y="438912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020556" y="3840480"/>
            <a:ext cx="2377440" cy="2103120"/>
          </a:xfrm>
          <a:prstGeom prst="roundRect">
            <a:avLst>
              <a:gd name="adj" fmla="val 3478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203436" y="3977640"/>
            <a:ext cx="2011680" cy="4572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34" name="Text 32"/>
          <p:cNvSpPr/>
          <p:nvPr/>
        </p:nvSpPr>
        <p:spPr>
          <a:xfrm>
            <a:off x="9020556" y="4114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020556" y="4663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Agent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57716" y="5029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Spring Boot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tests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88952" cy="73152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320040" cy="36576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&amp; Compliance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 built into every layer of the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3796" y="18288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02436" y="2103120"/>
            <a:ext cx="822960" cy="82296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120243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3796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5236" y="3383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(SSO)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corporate identity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94076" y="18288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42716" y="2103120"/>
            <a:ext cx="822960" cy="822960"/>
          </a:xfrm>
          <a:prstGeom prst="ellipse">
            <a:avLst/>
          </a:prstGeom>
          <a:solidFill>
            <a:srgbClr val="6B69D6"/>
          </a:solidFill>
          <a:ln/>
        </p:spPr>
      </p:sp>
      <p:sp>
        <p:nvSpPr>
          <p:cNvPr id="13" name="Text 11"/>
          <p:cNvSpPr/>
          <p:nvPr/>
        </p:nvSpPr>
        <p:spPr>
          <a:xfrm>
            <a:off x="344271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894076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85516" y="3383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secrets managed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Azure Key Vault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34356" y="18288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82996" y="2103120"/>
            <a:ext cx="822960" cy="822960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18" name="Text 16"/>
          <p:cNvSpPr/>
          <p:nvPr/>
        </p:nvSpPr>
        <p:spPr>
          <a:xfrm>
            <a:off x="568299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134356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25796" y="3383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74636" y="18288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23276" y="2103120"/>
            <a:ext cx="822960" cy="822960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23" name="Text 21"/>
          <p:cNvSpPr/>
          <p:nvPr/>
        </p:nvSpPr>
        <p:spPr>
          <a:xfrm>
            <a:off x="792327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74636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66076" y="3383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permissions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14916" y="182880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163556" y="2103120"/>
            <a:ext cx="822960" cy="822960"/>
          </a:xfrm>
          <a:prstGeom prst="ellipse">
            <a:avLst/>
          </a:prstGeom>
          <a:solidFill>
            <a:srgbClr val="50E6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355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614916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06356" y="3383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activity trail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compliance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4754880"/>
            <a:ext cx="5788152" cy="822960"/>
          </a:xfrm>
          <a:prstGeom prst="roundRect">
            <a:avLst>
              <a:gd name="adj" fmla="val 8889"/>
            </a:avLst>
          </a:prstGeom>
          <a:solidFill>
            <a:srgbClr val="0D2137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37560" y="4846320"/>
            <a:ext cx="548640" cy="320040"/>
          </a:xfrm>
          <a:prstGeom prst="roundRect">
            <a:avLst>
              <a:gd name="adj" fmla="val 11429"/>
            </a:avLst>
          </a:prstGeom>
          <a:solidFill>
            <a:srgbClr val="107C10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4846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02336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API Keys in Code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023360" y="5074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credentials managed securely through Azure Key Vault and Managed Identity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0644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" y="580644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Ready  │  GDPR Compliant Architecture  │  Azure Government Compatible  │  Zero Trust Security Model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88952" cy="73152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320040" cy="36576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Cost Comparison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for AI-powered migration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5120640" cy="502920"/>
          </a:xfrm>
          <a:prstGeom prst="rect">
            <a:avLst>
              <a:gd name="adj" fmla="val 14545"/>
            </a:avLst>
          </a:prstGeom>
          <a:solidFill>
            <a:srgbClr val="D1343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11680"/>
            <a:ext cx="5120640" cy="182880"/>
          </a:xfrm>
          <a:prstGeom prst="rect">
            <a:avLst/>
          </a:prstGeom>
          <a:solidFill>
            <a:srgbClr val="D1343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Manual Migration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– $50,000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app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4 weeks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specialists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error 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4206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1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headcount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28232" y="169164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1691640"/>
            <a:ext cx="5120640" cy="502920"/>
          </a:xfrm>
          <a:prstGeom prst="rect">
            <a:avLst>
              <a:gd name="adj" fmla="val 14545"/>
            </a:avLst>
          </a:prstGeom>
          <a:solidFill>
            <a:srgbClr val="107C10"/>
          </a:solidFill>
          <a:ln/>
        </p:spPr>
      </p:sp>
      <p:sp>
        <p:nvSpPr>
          <p:cNvPr id="22" name="Shape 20"/>
          <p:cNvSpPr/>
          <p:nvPr/>
        </p:nvSpPr>
        <p:spPr>
          <a:xfrm>
            <a:off x="6428232" y="2011680"/>
            <a:ext cx="5120640" cy="18288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232" y="16916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AI Migrator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02552" y="2377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app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14232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02552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app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14232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02552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14232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02552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14232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compilable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02552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14232" y="4206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23560" y="2606040"/>
            <a:ext cx="960120" cy="960120"/>
          </a:xfrm>
          <a:prstGeom prst="ellipse">
            <a:avLst/>
          </a:prstGeom>
          <a:solidFill>
            <a:srgbClr val="0F1B2D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623560" y="26060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28116" y="512064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28116" y="5212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$36–$66/mo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28116" y="5760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39996" y="512064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39996" y="5212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250,000%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4539996" y="5760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51876" y="5120640"/>
            <a:ext cx="31089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151876" y="5212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Migration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8151876" y="5760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for 1 Year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Platform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88952" cy="73152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320040" cy="36576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Platform Metrics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 platform delivering measurable results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6636" y="17373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6636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16636" y="24231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16636" y="3291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Generated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" y="3840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Spring Boot project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96996" y="17373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96996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96996" y="24231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B6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396996" y="3291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96996" y="3840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migration patterns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77356" y="17373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77356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77356" y="24231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277356" y="3291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77356" y="3840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REST API coverage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57716" y="173736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57716" y="1920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157716" y="24231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9157716" y="3291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57716" y="3840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cloud infrastructure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0" y="5120640"/>
            <a:ext cx="8531352" cy="1005840"/>
          </a:xfrm>
          <a:prstGeom prst="roundRect">
            <a:avLst>
              <a:gd name="adj" fmla="val 7273"/>
            </a:avLst>
          </a:prstGeom>
          <a:solidFill>
            <a:srgbClr val="0F1B2D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828800" y="516636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28800" y="5440680"/>
            <a:ext cx="8531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https://nice-rock-0f9182f00.6.azurestaticapps.net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88952" cy="73152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228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320040" cy="36576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evolution from core platform to enterprise-scale solution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10360152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Shape 5"/>
          <p:cNvSpPr/>
          <p:nvPr/>
        </p:nvSpPr>
        <p:spPr>
          <a:xfrm>
            <a:off x="1751076" y="2633472"/>
            <a:ext cx="320040" cy="3200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107C1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4228" y="2706624"/>
            <a:ext cx="173736" cy="173736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" y="3200400"/>
            <a:ext cx="2468880" cy="2926080"/>
          </a:xfrm>
          <a:prstGeom prst="roundRect">
            <a:avLst>
              <a:gd name="adj" fmla="val 2963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08176" y="333756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107C10"/>
          </a:solidFill>
          <a:ln/>
        </p:spPr>
      </p:sp>
      <p:sp>
        <p:nvSpPr>
          <p:cNvPr id="12" name="Text 10"/>
          <p:cNvSpPr/>
          <p:nvPr/>
        </p:nvSpPr>
        <p:spPr>
          <a:xfrm>
            <a:off x="1408176" y="3337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5256" y="4114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Single-file migration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05256" y="44988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Web-based editor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05256" y="48828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GitHub integration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05256" y="526694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Azure deployment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39996" y="2633472"/>
            <a:ext cx="320040" cy="3200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7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3148" y="2706624"/>
            <a:ext cx="173736" cy="17373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0" name="Text 18"/>
          <p:cNvSpPr/>
          <p:nvPr/>
        </p:nvSpPr>
        <p:spPr>
          <a:xfrm>
            <a:off x="3465576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65576" y="3200400"/>
            <a:ext cx="2468880" cy="2926080"/>
          </a:xfrm>
          <a:prstGeom prst="roundRect">
            <a:avLst>
              <a:gd name="adj" fmla="val 2963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97096" y="333756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4197096" y="3337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65576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94176" y="4114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Multi-file migration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94176" y="44988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Team workspaces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94176" y="48828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Migration history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94176" y="526694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Advanced analytics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28916" y="2633472"/>
            <a:ext cx="320040" cy="3200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6B69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2068" y="2706624"/>
            <a:ext cx="173736" cy="173736"/>
          </a:xfrm>
          <a:prstGeom prst="ellipse">
            <a:avLst/>
          </a:prstGeom>
          <a:solidFill>
            <a:srgbClr val="6B69D6"/>
          </a:solidFill>
          <a:ln/>
        </p:spPr>
      </p:sp>
      <p:sp>
        <p:nvSpPr>
          <p:cNvPr id="31" name="Text 29"/>
          <p:cNvSpPr/>
          <p:nvPr/>
        </p:nvSpPr>
        <p:spPr>
          <a:xfrm>
            <a:off x="6254496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54496" y="3200400"/>
            <a:ext cx="2468880" cy="2926080"/>
          </a:xfrm>
          <a:prstGeom prst="roundRect">
            <a:avLst>
              <a:gd name="adj" fmla="val 2963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86016" y="333756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6B69D6"/>
          </a:solidFill>
          <a:ln/>
        </p:spPr>
      </p:sp>
      <p:sp>
        <p:nvSpPr>
          <p:cNvPr id="34" name="Text 32"/>
          <p:cNvSpPr/>
          <p:nvPr/>
        </p:nvSpPr>
        <p:spPr>
          <a:xfrm>
            <a:off x="6986016" y="3337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54496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83096" y="4114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 patterns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83096" y="44988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Enterprise SSO/SAML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83096" y="48828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marketplace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83096" y="526694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Compliance reports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117836" y="2633472"/>
            <a:ext cx="320040" cy="3200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FF8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90988" y="2706624"/>
            <a:ext cx="173736" cy="173736"/>
          </a:xfrm>
          <a:prstGeom prst="ellipse">
            <a:avLst/>
          </a:prstGeom>
          <a:solidFill>
            <a:srgbClr val="FF8C00"/>
          </a:solidFill>
          <a:ln/>
        </p:spPr>
      </p:sp>
      <p:sp>
        <p:nvSpPr>
          <p:cNvPr id="42" name="Text 40"/>
          <p:cNvSpPr/>
          <p:nvPr/>
        </p:nvSpPr>
        <p:spPr>
          <a:xfrm>
            <a:off x="9043416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43416" y="3200400"/>
            <a:ext cx="2468880" cy="2926080"/>
          </a:xfrm>
          <a:prstGeom prst="roundRect">
            <a:avLst>
              <a:gd name="adj" fmla="val 2963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774936" y="333756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FF8C00"/>
          </a:solidFill>
          <a:ln/>
        </p:spPr>
      </p:sp>
      <p:sp>
        <p:nvSpPr>
          <p:cNvPr id="45" name="Text 43"/>
          <p:cNvSpPr/>
          <p:nvPr/>
        </p:nvSpPr>
        <p:spPr>
          <a:xfrm>
            <a:off x="9774936" y="33375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043416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272016" y="4114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Multi-cloud support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272016" y="44988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Batch migration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272016" y="48828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CI/CD integration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272016" y="526694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Partner ecosystem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0" y="6537960"/>
            <a:ext cx="12188952" cy="73152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011680"/>
            <a:ext cx="54864" cy="219456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0116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Ready to Modernize?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18872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Migrator — AI-Powered Application Modernization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365760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36576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https://nice-rock-0f9182f00.6.azurestaticapps.net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42416" y="484632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42416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5 min migrations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48456" y="484632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48456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💲  $0.04 per migration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484632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99% compilable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0536" y="484632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A2940"/>
          </a:solidFill>
          <a:ln w="6350">
            <a:solidFill>
              <a:srgbClr val="E1DFD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60536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Enterprise secure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5760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73152"/>
          </a:xfrm>
          <a:prstGeom prst="rect">
            <a:avLst/>
          </a:prstGeom>
          <a:solidFill>
            <a:srgbClr val="0078D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Mule Migrator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Mule Migrator - AI-Powered Application Modernization</dc:title>
  <dc:subject>Management Overview</dc:subject>
  <dc:creator>Mule Migrator Team</dc:creator>
  <cp:lastModifiedBy>Mule Migrator Team</cp:lastModifiedBy>
  <cp:revision>1</cp:revision>
  <dcterms:created xsi:type="dcterms:W3CDTF">2026-03-27T01:25:23Z</dcterms:created>
  <dcterms:modified xsi:type="dcterms:W3CDTF">2026-03-27T01:25:23Z</dcterms:modified>
</cp:coreProperties>
</file>